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3" r:id="rId4"/>
    <p:sldMasterId id="2147483654" r:id="rId5"/>
    <p:sldMasterId id="2147483655" r:id="rId6"/>
  </p:sldMasterIdLst>
  <p:notesMasterIdLst>
    <p:notesMasterId r:id="rId7"/>
  </p:notesMasterIdLst>
  <p:sldIdLst>
    <p:sldId id="256" r:id="rId8"/>
    <p:sldId id="257" r:id="rId9"/>
    <p:sldId id="258" r:id="rId10"/>
    <p:sldId id="267" r:id="rId23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y="5143500" cx="9144000"/>
  <p:notesSz cx="6858000" cy="9144000"/>
  <p:embeddedFontLst>
    <p:embeddedFont>
      <p:font typeface="Robot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font" Target="fonts/Roboto-regular.fntdata"/><Relationship Id="rId20" Type="http://schemas.openxmlformats.org/officeDocument/2006/relationships/font" Target="fonts/Roboto-bold.fntdata"/><Relationship Id="rId21" Type="http://schemas.openxmlformats.org/officeDocument/2006/relationships/font" Target="fonts/Roboto-italic.fntdata"/><Relationship Id="rId22" Type="http://schemas.openxmlformats.org/officeDocument/2006/relationships/font" Target="fonts/Roboto-boldItalic.fntdata"/><Relationship Id="rId23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g3ed670cae23_1_90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5" name="Google Shape;45;g3ed670cae23_1_90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f1bb2e2f64_2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" name="Google Shape;61;g3f1bb2e2f64_2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f1ba191f02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f1ba191f02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1bb2e2f64_2_1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g3f1bb2e2f64_2_179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ea9ac3cdea_1_48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1" name="Google Shape;141;g3ea9ac3cdea_1_48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ed670cae23_1_12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9" name="Google Shape;169;g3ed670cae23_1_12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ed670cae23_0_1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4" name="Google Shape;194;g3ed670cae23_0_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ed670cae23_0_2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4" name="Google Shape;204;g3ed670cae23_0_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ed670cae23_0_2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1" name="Google Shape;221;g3ed670cae23_0_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f1ba191f02_1_29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7" name="Google Shape;237;g3f1ba191f02_1_29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6" name="Google Shape;246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Architecture - the trust layer under Stripe's finance agents.</a:t>
            </a:r>
          </a:p>
          <a:p>
            <a:r>
              <a:t>- Deterministic engine runs FIRST, for $0: fraud ensemble (Isolation Forest + gradient boosting + graph features, ROC-AUC ~0.95), policy replay (re-run a spend policy over history for its dollar impact), tie-out reconciliation (every expense report rolls up to the cent), duplicate-charge / redundant-subscription / limit detection. Each emits a Finding with evidence and dollars at risk.</a:t>
            </a:r>
          </a:p>
          <a:p>
            <a:r>
              <a:t>- Where the numbers come from - real models: a fraud-ring graph (connected components over shared-device / cross-metro-IP edges), causal runway (do-operator on a structural causal model, not a re-plotted trend), a gradient-boosted PD model that sizes the Stripe Capital limit, and an idle-cash yield optimizer for the Stripe Treasury sweep.</a:t>
            </a:r>
          </a:p>
          <a:p>
            <a:r>
              <a:t>- Only then does the LLM layer run: five narrow agents (categorize, policy audit, fraud triage, dispute adjudication, tie-out) sequenced by an orchestrator, escalating to a full fraud-investigator workflow. Opus 4.8 reviews, Sonnet 4.6 investigates, Haiku 4.5 parses receipts and docs (model routing). Every finding is tagged engine / llm / both.</a:t>
            </a:r>
          </a:p>
          <a:p>
            <a:r>
              <a:t>- Every agent decision is graded against held-out ground truth on the financial-correctness benchmark (bootstrap CIs, cost, latency) - the promotion gate before a model ships. Anything risky (fraud over threshold, PII, an irreversible write, a tie-out mismatch, a benchmark below the gate) HALTS and asks a human to confirm.</a:t>
            </a:r>
          </a:p>
          <a:p>
            <a:r>
              <a:t>- It is one orchestrated run: categorize -&gt; policy -&gt; fraud -&gt; dispute -&gt; tie-out, with the agent confirming before any write tool. That is the trust layer that lets Stripe act on real spend.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Google Shape;15;p2"/>
          <p:cNvSpPr txBox="1"/>
          <p:nvPr>
            <p:ph idx="11" type="ftr"/>
          </p:nvPr>
        </p:nvSpPr>
        <p:spPr>
          <a:xfrm>
            <a:off x="8384287" y="4768115"/>
            <a:ext cx="34518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1" type="ftr"/>
          </p:nvPr>
        </p:nvSpPr>
        <p:spPr>
          <a:xfrm>
            <a:off x="8384287" y="4768115"/>
            <a:ext cx="345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eb8968b46d_136_0)">
  <p:cSld name="Generated (g3eb8968b46d_136_0)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eb8968b46d_136_0)">
  <p:cSld name="Generated (g3eb8968b46d_136_0)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9" name="Google Shape;39;p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Google Shape;40;p8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1" name="Google Shape;41;p8"/>
          <p:cNvSpPr txBox="1"/>
          <p:nvPr>
            <p:ph idx="11" type="ftr"/>
          </p:nvPr>
        </p:nvSpPr>
        <p:spPr>
          <a:xfrm>
            <a:off x="8384287" y="4768115"/>
            <a:ext cx="345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2" name="Google Shape;42;p8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7226046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1" name="Google Shape;21;p3"/>
          <p:cNvSpPr txBox="1"/>
          <p:nvPr>
            <p:ph idx="11" type="ftr"/>
          </p:nvPr>
        </p:nvSpPr>
        <p:spPr>
          <a:xfrm>
            <a:off x="7226046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2" name="Google Shape;32;p6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" name="Google Shape;33;p6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" name="Google Shape;34;p6"/>
          <p:cNvSpPr txBox="1"/>
          <p:nvPr>
            <p:ph idx="11" type="ftr"/>
          </p:nvPr>
        </p:nvSpPr>
        <p:spPr>
          <a:xfrm>
            <a:off x="7226046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1" r:id="rId1"/>
    <p:sldLayoutId id="2147483652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hyperlink" Target="https://hebbify.up.railway.app/" TargetMode="External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://grapherlabs.com" TargetMode="External"/><Relationship Id="rId4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jpg"/><Relationship Id="rId4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jpg"/><Relationship Id="rId4" Type="http://schemas.openxmlformats.org/officeDocument/2006/relationships/image" Target="../media/image1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17.png"/><Relationship Id="rId5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Relationship Id="rId4" Type="http://schemas.openxmlformats.org/officeDocument/2006/relationships/hyperlink" Target="mailto:hv2201@nyu.edu" TargetMode="External"/><Relationship Id="rId5" Type="http://schemas.openxmlformats.org/officeDocument/2006/relationships/image" Target="../media/image18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9"/>
          <p:cNvSpPr txBox="1"/>
          <p:nvPr>
            <p:ph type="title"/>
          </p:nvPr>
        </p:nvSpPr>
        <p:spPr>
          <a:xfrm>
            <a:off x="631426" y="359239"/>
            <a:ext cx="5385900" cy="2403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</a:pPr>
            <a:r>
              <a:rPr b="1" lang="en" sz="4500"/>
              <a:t>Harshini Vijaya Kumar</a:t>
            </a:r>
            <a:endParaRPr b="1" sz="45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</a:pPr>
            <a:r>
              <a:rPr lang="en" sz="1800">
                <a:solidFill>
                  <a:srgbClr val="121212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NYU CSE Masters, Ex-Founder, Researcher,</a:t>
            </a:r>
            <a:endParaRPr sz="5100">
              <a:highlight>
                <a:srgbClr val="FFFFFF"/>
              </a:highlight>
            </a:endParaRPr>
          </a:p>
        </p:txBody>
      </p:sp>
      <p:sp>
        <p:nvSpPr>
          <p:cNvPr id="48" name="Google Shape;48;p9"/>
          <p:cNvSpPr/>
          <p:nvPr/>
        </p:nvSpPr>
        <p:spPr>
          <a:xfrm rot="5400000">
            <a:off x="840534" y="260162"/>
            <a:ext cx="109800" cy="52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9"/>
          <p:cNvSpPr/>
          <p:nvPr/>
        </p:nvSpPr>
        <p:spPr>
          <a:xfrm>
            <a:off x="518251" y="2762244"/>
            <a:ext cx="5267700" cy="109800"/>
          </a:xfrm>
          <a:prstGeom prst="rect">
            <a:avLst/>
          </a:prstGeom>
          <a:solidFill>
            <a:srgbClr val="D5D5D5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9"/>
          <p:cNvSpPr txBox="1"/>
          <p:nvPr/>
        </p:nvSpPr>
        <p:spPr>
          <a:xfrm>
            <a:off x="6440987" y="3114482"/>
            <a:ext cx="20073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lang="en" sz="17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Try it live</a:t>
            </a:r>
            <a:endParaRPr b="1" sz="17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latin typeface="Calibri"/>
                <a:ea typeface="Calibri"/>
                <a:cs typeface="Calibri"/>
                <a:sym typeface="Calibri"/>
              </a:rPr>
              <a:t>stripify.up.railway.app</a:t>
            </a:r>
            <a:endParaRPr sz="15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1" name="Google Shape;51;p9"/>
          <p:cNvGrpSpPr/>
          <p:nvPr/>
        </p:nvGrpSpPr>
        <p:grpSpPr>
          <a:xfrm>
            <a:off x="6301455" y="262178"/>
            <a:ext cx="2286400" cy="602094"/>
            <a:chOff x="6017629" y="288636"/>
            <a:chExt cx="2286400" cy="602094"/>
          </a:xfrm>
        </p:grpSpPr>
        <p:sp>
          <p:nvSpPr>
            <p:cNvPr id="52" name="Google Shape;52;p9"/>
            <p:cNvSpPr txBox="1"/>
            <p:nvPr/>
          </p:nvSpPr>
          <p:spPr>
            <a:xfrm>
              <a:off x="6305429" y="288636"/>
              <a:ext cx="1998600" cy="52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600"/>
                <a:buFont typeface="Arial"/>
                <a:buNone/>
              </a:pPr>
              <a:r>
                <a:rPr b="1" i="0" lang="en" sz="26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Check it out!</a:t>
              </a:r>
              <a:endParaRPr b="1" i="0" sz="2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53" name="Google Shape;53;p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 rot="5913779">
              <a:off x="6023381" y="539834"/>
              <a:ext cx="348093" cy="311238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54" name="Google Shape;54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3027450"/>
            <a:ext cx="1779758" cy="166017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5" name="Google Shape;55;p9"/>
          <p:cNvGrpSpPr/>
          <p:nvPr/>
        </p:nvGrpSpPr>
        <p:grpSpPr>
          <a:xfrm>
            <a:off x="518250" y="2762250"/>
            <a:ext cx="3291750" cy="2381250"/>
            <a:chOff x="-243750" y="0"/>
            <a:chExt cx="3291750" cy="2381250"/>
          </a:xfrm>
        </p:grpSpPr>
        <p:sp>
          <p:nvSpPr>
            <p:cNvPr id="56" name="Google Shape;56;p9"/>
            <p:cNvSpPr/>
            <p:nvPr/>
          </p:nvSpPr>
          <p:spPr>
            <a:xfrm>
              <a:off x="0" y="0"/>
              <a:ext cx="30480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" name="Google Shape;57;p9"/>
            <p:cNvSpPr txBox="1"/>
            <p:nvPr/>
          </p:nvSpPr>
          <p:spPr>
            <a:xfrm>
              <a:off x="-243750" y="2000250"/>
              <a:ext cx="3048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rgbClr val="ED7D31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e</a:t>
              </a:r>
              <a:r>
                <a:rPr lang="en" sz="1400">
                  <a:solidFill>
                    <a:srgbClr val="ED7D31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mail</a:t>
              </a:r>
              <a:r>
                <a:rPr lang="en" sz="1100">
                  <a:solidFill>
                    <a:srgbClr val="595959"/>
                  </a:solidFill>
                  <a:latin typeface="Roboto"/>
                  <a:ea typeface="Roboto"/>
                  <a:cs typeface="Roboto"/>
                  <a:sym typeface="Roboto"/>
                </a:rPr>
                <a:t>hv2201@nyu.edu</a:t>
              </a:r>
              <a:r>
                <a:rPr lang="en" sz="1400">
                  <a:solidFill>
                    <a:srgbClr val="ED7D31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ph</a:t>
              </a:r>
              <a:r>
                <a:rPr lang="en" sz="1400">
                  <a:solidFill>
                    <a:srgbClr val="ED7D31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one</a:t>
              </a:r>
              <a:r>
                <a:rPr lang="en" sz="1100">
                  <a:solidFill>
                    <a:srgbClr val="595959"/>
                  </a:solidFill>
                  <a:latin typeface="Roboto"/>
                  <a:ea typeface="Roboto"/>
                  <a:cs typeface="Roboto"/>
                  <a:sym typeface="Roboto"/>
                </a:rPr>
                <a:t>+1 (848) 240-7937</a:t>
              </a:r>
              <a:endParaRPr sz="1100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pic>
        <p:nvPicPr>
          <p:cNvPr id="58" name="Google Shape;58;p9" title="Hebbia-qr-sit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131250" y="864275"/>
            <a:ext cx="2381250" cy="2381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0"/>
          <p:cNvSpPr/>
          <p:nvPr/>
        </p:nvSpPr>
        <p:spPr>
          <a:xfrm>
            <a:off x="640080" y="0"/>
            <a:ext cx="7863900" cy="1647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0"/>
          <p:cNvSpPr txBox="1"/>
          <p:nvPr/>
        </p:nvSpPr>
        <p:spPr>
          <a:xfrm>
            <a:off x="640080" y="219456"/>
            <a:ext cx="78639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400" u="none" cap="none" strike="noStrike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Why Stripe?</a:t>
            </a:r>
            <a:endParaRPr/>
          </a:p>
        </p:txBody>
      </p:sp>
      <p:cxnSp>
        <p:nvCxnSpPr>
          <p:cNvPr id="65" name="Google Shape;65;p10"/>
          <p:cNvCxnSpPr/>
          <p:nvPr/>
        </p:nvCxnSpPr>
        <p:spPr>
          <a:xfrm>
            <a:off x="640080" y="877824"/>
            <a:ext cx="7863900" cy="0"/>
          </a:xfrm>
          <a:prstGeom prst="straightConnector1">
            <a:avLst/>
          </a:prstGeom>
          <a:noFill/>
          <a:ln cap="flat" cmpd="sng" w="15875">
            <a:solidFill>
              <a:srgbClr val="D5D5D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66" name="Google Shape;66;p10"/>
          <p:cNvSpPr txBox="1"/>
          <p:nvPr/>
        </p:nvSpPr>
        <p:spPr>
          <a:xfrm>
            <a:off x="640055" y="1032032"/>
            <a:ext cx="78639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550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The reason Stripe caught my attention: a lot of my recent work is about</a:t>
            </a:r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640055" y="1336843"/>
            <a:ext cx="7863900" cy="91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00" u="none" cap="none" strike="noStrike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making AI output over spend &amp; cash flow </a:t>
            </a:r>
            <a:r>
              <a:rPr b="1" i="0" lang="en" sz="2900" u="none" cap="none" strike="noStrike">
                <a:solidFill>
                  <a:srgbClr val="ED7D31"/>
                </a:solidFill>
                <a:latin typeface="Arial"/>
                <a:ea typeface="Arial"/>
                <a:cs typeface="Arial"/>
                <a:sym typeface="Arial"/>
              </a:rPr>
              <a:t>actually trustworthy.</a:t>
            </a:r>
            <a:endParaRPr sz="1300"/>
          </a:p>
        </p:txBody>
      </p:sp>
      <p:sp>
        <p:nvSpPr>
          <p:cNvPr id="68" name="Google Shape;68;p10"/>
          <p:cNvSpPr/>
          <p:nvPr/>
        </p:nvSpPr>
        <p:spPr>
          <a:xfrm>
            <a:off x="640075" y="2390037"/>
            <a:ext cx="3422700" cy="1363500"/>
          </a:xfrm>
          <a:prstGeom prst="roundRect">
            <a:avLst>
              <a:gd fmla="val 7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0"/>
          <p:cNvSpPr/>
          <p:nvPr/>
        </p:nvSpPr>
        <p:spPr>
          <a:xfrm>
            <a:off x="914399" y="3026273"/>
            <a:ext cx="585300" cy="58530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/>
          <p:nvPr/>
        </p:nvSpPr>
        <p:spPr>
          <a:xfrm>
            <a:off x="1056131" y="3337169"/>
            <a:ext cx="54900" cy="11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10"/>
          <p:cNvSpPr/>
          <p:nvPr/>
        </p:nvSpPr>
        <p:spPr>
          <a:xfrm>
            <a:off x="1138428" y="3264017"/>
            <a:ext cx="54900" cy="19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0"/>
          <p:cNvSpPr/>
          <p:nvPr/>
        </p:nvSpPr>
        <p:spPr>
          <a:xfrm>
            <a:off x="1220723" y="3190865"/>
            <a:ext cx="54900" cy="265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10"/>
          <p:cNvSpPr/>
          <p:nvPr/>
        </p:nvSpPr>
        <p:spPr>
          <a:xfrm>
            <a:off x="1303019" y="3291449"/>
            <a:ext cx="54900" cy="164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10"/>
          <p:cNvSpPr txBox="1"/>
          <p:nvPr/>
        </p:nvSpPr>
        <p:spPr>
          <a:xfrm>
            <a:off x="1664208" y="2715377"/>
            <a:ext cx="2587800" cy="71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TECHNICAL CO-FOUNDER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Causal cash-flow &amp; runway engine for CFOs</a:t>
            </a:r>
            <a:endParaRPr/>
          </a:p>
        </p:txBody>
      </p:sp>
      <p:sp>
        <p:nvSpPr>
          <p:cNvPr id="75" name="Google Shape;75;p10"/>
          <p:cNvSpPr/>
          <p:nvPr/>
        </p:nvSpPr>
        <p:spPr>
          <a:xfrm>
            <a:off x="4640575" y="2390025"/>
            <a:ext cx="3854400" cy="1363500"/>
          </a:xfrm>
          <a:prstGeom prst="roundRect">
            <a:avLst>
              <a:gd fmla="val 7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0"/>
          <p:cNvSpPr/>
          <p:nvPr/>
        </p:nvSpPr>
        <p:spPr>
          <a:xfrm>
            <a:off x="4983480" y="3026273"/>
            <a:ext cx="585300" cy="58530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7" name="Google Shape;77;p10"/>
          <p:cNvCxnSpPr/>
          <p:nvPr/>
        </p:nvCxnSpPr>
        <p:spPr>
          <a:xfrm>
            <a:off x="5138928" y="3236585"/>
            <a:ext cx="100500" cy="128100"/>
          </a:xfrm>
          <a:prstGeom prst="straightConnector1">
            <a:avLst/>
          </a:prstGeom>
          <a:noFill/>
          <a:ln cap="flat" cmpd="sng" w="203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78" name="Google Shape;78;p10"/>
          <p:cNvCxnSpPr/>
          <p:nvPr/>
        </p:nvCxnSpPr>
        <p:spPr>
          <a:xfrm flipH="1">
            <a:off x="5239548" y="3200009"/>
            <a:ext cx="173700" cy="164700"/>
          </a:xfrm>
          <a:prstGeom prst="straightConnector1">
            <a:avLst/>
          </a:prstGeom>
          <a:noFill/>
          <a:ln cap="flat" cmpd="sng" w="203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79" name="Google Shape;79;p10"/>
          <p:cNvCxnSpPr/>
          <p:nvPr/>
        </p:nvCxnSpPr>
        <p:spPr>
          <a:xfrm>
            <a:off x="5239512" y="3364601"/>
            <a:ext cx="137100" cy="100500"/>
          </a:xfrm>
          <a:prstGeom prst="straightConnector1">
            <a:avLst/>
          </a:prstGeom>
          <a:noFill/>
          <a:ln cap="flat" cmpd="sng" w="203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80" name="Google Shape;80;p10"/>
          <p:cNvCxnSpPr/>
          <p:nvPr/>
        </p:nvCxnSpPr>
        <p:spPr>
          <a:xfrm flipH="1" rot="10800000">
            <a:off x="5138928" y="3199985"/>
            <a:ext cx="274200" cy="36600"/>
          </a:xfrm>
          <a:prstGeom prst="straightConnector1">
            <a:avLst/>
          </a:prstGeom>
          <a:noFill/>
          <a:ln cap="flat" cmpd="sng" w="203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81" name="Google Shape;81;p10"/>
          <p:cNvSpPr/>
          <p:nvPr/>
        </p:nvSpPr>
        <p:spPr>
          <a:xfrm>
            <a:off x="5097780" y="3195437"/>
            <a:ext cx="82200" cy="82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0"/>
          <p:cNvSpPr/>
          <p:nvPr/>
        </p:nvSpPr>
        <p:spPr>
          <a:xfrm>
            <a:off x="5372100" y="3158861"/>
            <a:ext cx="82200" cy="82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10"/>
          <p:cNvSpPr/>
          <p:nvPr/>
        </p:nvSpPr>
        <p:spPr>
          <a:xfrm>
            <a:off x="5198364" y="3323453"/>
            <a:ext cx="82200" cy="82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10"/>
          <p:cNvSpPr/>
          <p:nvPr/>
        </p:nvSpPr>
        <p:spPr>
          <a:xfrm>
            <a:off x="5335524" y="3424037"/>
            <a:ext cx="82200" cy="82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0"/>
          <p:cNvSpPr txBox="1"/>
          <p:nvPr/>
        </p:nvSpPr>
        <p:spPr>
          <a:xfrm>
            <a:off x="5733288" y="2715377"/>
            <a:ext cx="2587800" cy="71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DESIGNED &amp; BUILT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Agentic causal-graph engine for burn &amp; cash-runway</a:t>
            </a:r>
            <a:endParaRPr/>
          </a:p>
        </p:txBody>
      </p:sp>
      <p:grpSp>
        <p:nvGrpSpPr>
          <p:cNvPr id="86" name="Google Shape;86;p10"/>
          <p:cNvGrpSpPr/>
          <p:nvPr/>
        </p:nvGrpSpPr>
        <p:grpSpPr>
          <a:xfrm>
            <a:off x="640080" y="4052467"/>
            <a:ext cx="7863900" cy="428700"/>
            <a:chOff x="0" y="0"/>
            <a:chExt cx="7863900" cy="428700"/>
          </a:xfrm>
        </p:grpSpPr>
        <p:sp>
          <p:nvSpPr>
            <p:cNvPr id="87" name="Google Shape;87;p10"/>
            <p:cNvSpPr/>
            <p:nvPr/>
          </p:nvSpPr>
          <p:spPr>
            <a:xfrm>
              <a:off x="0" y="0"/>
              <a:ext cx="7863900" cy="428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10"/>
            <p:cNvSpPr txBox="1"/>
            <p:nvPr/>
          </p:nvSpPr>
          <p:spPr>
            <a:xfrm>
              <a:off x="0" y="0"/>
              <a:ext cx="7863900" cy="42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713">
                  <a:solidFill>
                    <a:srgbClr val="1A1A1A"/>
                  </a:solidFill>
                  <a:latin typeface="Arial"/>
                  <a:ea typeface="Arial"/>
                  <a:cs typeface="Arial"/>
                  <a:sym typeface="Arial"/>
                </a:rPr>
                <a:t>Roles I'm interested in:</a:t>
              </a:r>
              <a:endParaRPr b="1" sz="1713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18691" lvl="0" marL="457200" rtl="0" algn="l">
                <a:spcBef>
                  <a:spcPts val="375"/>
                </a:spcBef>
                <a:spcAft>
                  <a:spcPts val="0"/>
                </a:spcAft>
                <a:buSzPts val="1419"/>
                <a:buChar char="●"/>
              </a:pPr>
              <a:r>
                <a:rPr lang="en" sz="1419">
                  <a:solidFill>
                    <a:schemeClr val="dk1"/>
                  </a:solidFill>
                </a:rPr>
                <a:t>Software </a:t>
              </a:r>
              <a:r>
                <a:rPr b="0" lang="en" sz="1419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Engineer, AI &amp; Agents</a:t>
              </a:r>
              <a:r>
                <a:rPr b="0" lang="en" sz="1419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rPr>
                <a:t/>
              </a:r>
              <a:r>
                <a:rPr b="0" lang="en" sz="1419">
                  <a:solidFill>
                    <a:srgbClr val="ED7D31"/>
                  </a:solidFill>
                  <a:latin typeface="Arial"/>
                  <a:ea typeface="Arial"/>
                  <a:cs typeface="Arial"/>
                  <a:sym typeface="Arial"/>
                </a:rPr>
                <a:t/>
              </a:r>
              <a:endParaRPr sz="1419">
                <a:solidFill>
                  <a:srgbClr val="595959"/>
                </a:solidFill>
              </a:endParaRPr>
            </a:p>
            <a:p>
              <a:pPr indent="-318691" lvl="0" marL="457200" rtl="0" algn="l">
                <a:spcBef>
                  <a:spcPts val="0"/>
                </a:spcBef>
                <a:spcAft>
                  <a:spcPts val="0"/>
                </a:spcAft>
                <a:buSzPts val="1419"/>
                <a:buChar char="●"/>
              </a:pPr>
              <a:r>
                <a:rPr lang="en" sz="1419">
                  <a:solidFill>
                    <a:schemeClr val="dk1"/>
                  </a:solidFill>
                </a:rPr>
                <a:t>Forward Deployed Engineer</a:t>
              </a:r>
              <a:r>
                <a:rPr b="0" lang="en" sz="1419">
                  <a:solidFill>
                    <a:srgbClr val="ED7D31"/>
                  </a:solidFill>
                  <a:latin typeface="Arial"/>
                  <a:ea typeface="Arial"/>
                  <a:cs typeface="Arial"/>
                  <a:sym typeface="Arial"/>
                </a:rPr>
                <a:t/>
              </a:r>
              <a:endParaRPr b="0" sz="1419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1"/>
          <p:cNvSpPr/>
          <p:nvPr/>
        </p:nvSpPr>
        <p:spPr>
          <a:xfrm>
            <a:off x="0" y="0"/>
            <a:ext cx="9144000" cy="1428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94" name="Google Shape;94;p11"/>
          <p:cNvGrpSpPr/>
          <p:nvPr/>
        </p:nvGrpSpPr>
        <p:grpSpPr>
          <a:xfrm>
            <a:off x="628650" y="381000"/>
            <a:ext cx="7886700" cy="633525"/>
            <a:chOff x="0" y="0"/>
            <a:chExt cx="7886700" cy="633525"/>
          </a:xfrm>
        </p:grpSpPr>
        <p:sp>
          <p:nvSpPr>
            <p:cNvPr id="95" name="Google Shape;95;p11"/>
            <p:cNvSpPr txBox="1"/>
            <p:nvPr/>
          </p:nvSpPr>
          <p:spPr>
            <a:xfrm>
              <a:off x="0" y="0"/>
              <a:ext cx="78867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3200">
                  <a:solidFill>
                    <a:srgbClr val="0F172A"/>
                  </a:solidFill>
                  <a:latin typeface="Calibri"/>
                  <a:ea typeface="Calibri"/>
                  <a:cs typeface="Calibri"/>
                  <a:sym typeface="Calibri"/>
                </a:rPr>
                <a:t>Case Study: Stripify </a:t>
              </a:r>
              <a:endParaRPr b="1" sz="3200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11"/>
            <p:cNvSpPr/>
            <p:nvPr/>
          </p:nvSpPr>
          <p:spPr>
            <a:xfrm>
              <a:off x="0" y="619125"/>
              <a:ext cx="7886700" cy="14400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7" name="Google Shape;97;p11"/>
          <p:cNvSpPr txBox="1"/>
          <p:nvPr/>
        </p:nvSpPr>
        <p:spPr>
          <a:xfrm>
            <a:off x="572250" y="1154275"/>
            <a:ext cx="47169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Solving the Reliability Problem</a:t>
            </a:r>
            <a:endParaRPr b="1" sz="1400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I built </a:t>
            </a:r>
            <a:r>
              <a:rPr b="1" lang="en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Stripify</a:t>
            </a:r>
            <a:r>
              <a:rPr lang="en" sz="14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, a financial-correctness harness for Stripe spend that scores every transaction for fraud, replays policy, and tie-out-verifies every number</a:t>
            </a:r>
            <a:r>
              <a:rPr lang="en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 — so Stripe can scale autonomous finance agents without the risk of approving a fraudulent charge.</a:t>
            </a:r>
            <a:endParaRPr>
              <a:solidFill>
                <a:srgbClr val="334155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334155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Link</a:t>
            </a:r>
            <a:r>
              <a:rPr lang="en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:  </a:t>
            </a:r>
            <a:r>
              <a:rPr lang="en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stripify.up.railway.app  </a:t>
            </a:r>
            <a:endParaRPr>
              <a:solidFill>
                <a:srgbClr val="33415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8" name="Google Shape;98;p11"/>
          <p:cNvGrpSpPr/>
          <p:nvPr/>
        </p:nvGrpSpPr>
        <p:grpSpPr>
          <a:xfrm>
            <a:off x="572250" y="4134600"/>
            <a:ext cx="7886700" cy="952500"/>
            <a:chOff x="0" y="-45125"/>
            <a:chExt cx="7886700" cy="952500"/>
          </a:xfrm>
        </p:grpSpPr>
        <p:sp>
          <p:nvSpPr>
            <p:cNvPr id="99" name="Google Shape;99;p11"/>
            <p:cNvSpPr/>
            <p:nvPr/>
          </p:nvSpPr>
          <p:spPr>
            <a:xfrm>
              <a:off x="0" y="-45125"/>
              <a:ext cx="7886700" cy="952500"/>
            </a:xfrm>
            <a:custGeom>
              <a:rect b="b" l="l" r="r" t="t"/>
              <a:pathLst>
                <a:path extrusionOk="0" h="120000" w="120000">
                  <a:moveTo>
                    <a:pt x="0" y="12000"/>
                  </a:moveTo>
                  <a:cubicBezTo>
                    <a:pt x="0" y="5400"/>
                    <a:pt x="652" y="0"/>
                    <a:pt x="1449" y="0"/>
                  </a:cubicBezTo>
                  <a:lnTo>
                    <a:pt x="118551" y="0"/>
                  </a:lnTo>
                  <a:cubicBezTo>
                    <a:pt x="119348" y="0"/>
                    <a:pt x="120000" y="5400"/>
                    <a:pt x="120000" y="12000"/>
                  </a:cubicBezTo>
                  <a:lnTo>
                    <a:pt x="120000" y="84000"/>
                  </a:lnTo>
                  <a:cubicBezTo>
                    <a:pt x="120000" y="90600"/>
                    <a:pt x="119348" y="96000"/>
                    <a:pt x="118551" y="96000"/>
                  </a:cubicBezTo>
                  <a:lnTo>
                    <a:pt x="4348" y="96000"/>
                  </a:lnTo>
                  <a:lnTo>
                    <a:pt x="1449" y="120000"/>
                  </a:lnTo>
                  <a:lnTo>
                    <a:pt x="1449" y="96000"/>
                  </a:lnTo>
                  <a:cubicBezTo>
                    <a:pt x="652" y="96000"/>
                    <a:pt x="0" y="90600"/>
                    <a:pt x="0" y="84000"/>
                  </a:cubicBezTo>
                  <a:close/>
                </a:path>
              </a:pathLst>
            </a:custGeom>
            <a:solidFill>
              <a:srgbClr val="C9DAF8"/>
            </a:solidFill>
            <a:ln cap="flat" cmpd="sng" w="9525">
              <a:solidFill>
                <a:srgbClr val="C9DAF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11"/>
            <p:cNvSpPr txBox="1"/>
            <p:nvPr/>
          </p:nvSpPr>
          <p:spPr>
            <a:xfrm>
              <a:off x="190500" y="142875"/>
              <a:ext cx="7505700" cy="476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1" lang="en" sz="1300">
                  <a:solidFill>
                    <a:srgbClr val="9A3412"/>
                  </a:solidFill>
                  <a:latin typeface="Calibri"/>
                  <a:ea typeface="Calibri"/>
                  <a:cs typeface="Calibri"/>
                  <a:sym typeface="Calibri"/>
                </a:rPr>
                <a:t>By enforcing spend policy and accounting identities at the decision layer, the harness catches fraud, duplicate invoices, and policy violations before money moves — the integrity Stripe needs to let agents act on real dollars.</a:t>
              </a:r>
              <a:endParaRPr b="0" i="1" sz="1300">
                <a:solidFill>
                  <a:srgbClr val="9A341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01" name="Google Shape;101;p1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345400" y="1154275"/>
            <a:ext cx="3714376" cy="1819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2" name="Google Shape;102;p11"/>
          <p:cNvGrpSpPr/>
          <p:nvPr/>
        </p:nvGrpSpPr>
        <p:grpSpPr>
          <a:xfrm>
            <a:off x="572250" y="2783925"/>
            <a:ext cx="7239000" cy="1143000"/>
            <a:chOff x="0" y="0"/>
            <a:chExt cx="7239000" cy="1143000"/>
          </a:xfrm>
        </p:grpSpPr>
        <p:grpSp>
          <p:nvGrpSpPr>
            <p:cNvPr id="103" name="Google Shape;103;p11"/>
            <p:cNvGrpSpPr/>
            <p:nvPr/>
          </p:nvGrpSpPr>
          <p:grpSpPr>
            <a:xfrm>
              <a:off x="0" y="0"/>
              <a:ext cx="2286000" cy="1143000"/>
              <a:chOff x="0" y="0"/>
              <a:chExt cx="2286000" cy="1143000"/>
            </a:xfrm>
          </p:grpSpPr>
          <p:sp>
            <p:nvSpPr>
              <p:cNvPr id="104" name="Google Shape;104;p11"/>
              <p:cNvSpPr/>
              <p:nvPr/>
            </p:nvSpPr>
            <p:spPr>
              <a:xfrm>
                <a:off x="0" y="0"/>
                <a:ext cx="2286000" cy="1143000"/>
              </a:xfrm>
              <a:prstGeom prst="roundRect">
                <a:avLst>
                  <a:gd fmla="val 10000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" name="Google Shape;105;p11"/>
              <p:cNvSpPr txBox="1"/>
              <p:nvPr/>
            </p:nvSpPr>
            <p:spPr>
              <a:xfrm>
                <a:off x="142875" y="142875"/>
                <a:ext cx="2000100" cy="85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64748B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Policy + Identities</a:t>
                </a:r>
                <a:endParaRPr b="1" sz="1000">
                  <a:solidFill>
                    <a:srgbClr val="64748B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0F172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spend within limit · books tie out</a:t>
                </a:r>
                <a:endParaRPr sz="1200">
                  <a:solidFill>
                    <a:srgbClr val="0F172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rgbClr val="22C55E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✔ Enforced</a:t>
                </a:r>
                <a:endParaRPr sz="1100">
                  <a:solidFill>
                    <a:srgbClr val="22C55E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6" name="Google Shape;106;p11"/>
            <p:cNvGrpSpPr/>
            <p:nvPr/>
          </p:nvGrpSpPr>
          <p:grpSpPr>
            <a:xfrm>
              <a:off x="2476500" y="0"/>
              <a:ext cx="2286000" cy="1143000"/>
              <a:chOff x="0" y="0"/>
              <a:chExt cx="2286000" cy="1143000"/>
            </a:xfrm>
          </p:grpSpPr>
          <p:sp>
            <p:nvSpPr>
              <p:cNvPr id="107" name="Google Shape;107;p11"/>
              <p:cNvSpPr/>
              <p:nvPr/>
            </p:nvSpPr>
            <p:spPr>
              <a:xfrm>
                <a:off x="0" y="0"/>
                <a:ext cx="2286000" cy="1143000"/>
              </a:xfrm>
              <a:prstGeom prst="roundRect">
                <a:avLst>
                  <a:gd fmla="val 10000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" name="Google Shape;108;p11"/>
              <p:cNvSpPr txBox="1"/>
              <p:nvPr/>
            </p:nvSpPr>
            <p:spPr>
              <a:xfrm>
                <a:off x="142875" y="142875"/>
                <a:ext cx="2000100" cy="85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64748B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Structural Checks</a:t>
                </a:r>
                <a:endParaRPr b="1" sz="1000">
                  <a:solidFill>
                    <a:srgbClr val="64748B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0F172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Three-way match · duplicate &amp; bank-change detection</a:t>
                </a:r>
                <a:endParaRPr sz="1200">
                  <a:solidFill>
                    <a:srgbClr val="0F172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9" name="Google Shape;109;p11"/>
            <p:cNvGrpSpPr/>
            <p:nvPr/>
          </p:nvGrpSpPr>
          <p:grpSpPr>
            <a:xfrm>
              <a:off x="4953000" y="0"/>
              <a:ext cx="2286000" cy="1143000"/>
              <a:chOff x="0" y="0"/>
              <a:chExt cx="2286000" cy="1143000"/>
            </a:xfrm>
          </p:grpSpPr>
          <p:sp>
            <p:nvSpPr>
              <p:cNvPr id="110" name="Google Shape;110;p11"/>
              <p:cNvSpPr/>
              <p:nvPr/>
            </p:nvSpPr>
            <p:spPr>
              <a:xfrm>
                <a:off x="0" y="0"/>
                <a:ext cx="2286000" cy="1143000"/>
              </a:xfrm>
              <a:prstGeom prst="roundRect">
                <a:avLst>
                  <a:gd fmla="val 10000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" name="Google Shape;111;p11"/>
              <p:cNvSpPr txBox="1"/>
              <p:nvPr/>
            </p:nvSpPr>
            <p:spPr>
              <a:xfrm>
                <a:off x="142875" y="142875"/>
                <a:ext cx="2000100" cy="85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64748B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Testing Grounds</a:t>
                </a:r>
                <a:endParaRPr b="1" sz="1000">
                  <a:solidFill>
                    <a:srgbClr val="64748B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0F172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Calibrated Stripe tenant · fraud ROC-AUC 0.89+</a:t>
                </a:r>
                <a:endParaRPr sz="1200">
                  <a:solidFill>
                    <a:srgbClr val="0F172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2"/>
          <p:cNvSpPr/>
          <p:nvPr/>
        </p:nvSpPr>
        <p:spPr>
          <a:xfrm>
            <a:off x="640080" y="0"/>
            <a:ext cx="7863840" cy="16459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12"/>
          <p:cNvSpPr txBox="1"/>
          <p:nvPr/>
        </p:nvSpPr>
        <p:spPr>
          <a:xfrm>
            <a:off x="640080" y="219456"/>
            <a:ext cx="78638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400" u="none" cap="none" strike="noStrike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Card + Cash + ERP: exactly how they connect</a:t>
            </a:r>
            <a:endParaRPr/>
          </a:p>
        </p:txBody>
      </p:sp>
      <p:cxnSp>
        <p:nvCxnSpPr>
          <p:cNvPr id="118" name="Google Shape;118;p12"/>
          <p:cNvCxnSpPr/>
          <p:nvPr/>
        </p:nvCxnSpPr>
        <p:spPr>
          <a:xfrm>
            <a:off x="640080" y="896112"/>
            <a:ext cx="7863840" cy="0"/>
          </a:xfrm>
          <a:prstGeom prst="straightConnector1">
            <a:avLst/>
          </a:prstGeom>
          <a:noFill/>
          <a:ln cap="flat" cmpd="sng" w="15875">
            <a:solidFill>
              <a:srgbClr val="D5D5D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19" name="Google Shape;119;p12"/>
          <p:cNvSpPr txBox="1"/>
          <p:nvPr/>
        </p:nvSpPr>
        <p:spPr>
          <a:xfrm>
            <a:off x="640080" y="941832"/>
            <a:ext cx="78638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2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Stripe Assistant’s real job is unifying card spend, cash, and the GL into one ledger — checked by the same engine.</a:t>
            </a:r>
            <a:endParaRPr/>
          </a:p>
        </p:txBody>
      </p:sp>
      <p:sp>
        <p:nvSpPr>
          <p:cNvPr id="120" name="Google Shape;120;p12"/>
          <p:cNvSpPr/>
          <p:nvPr/>
        </p:nvSpPr>
        <p:spPr>
          <a:xfrm>
            <a:off x="640080" y="1335024"/>
            <a:ext cx="2240280" cy="548640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12"/>
          <p:cNvSpPr txBox="1"/>
          <p:nvPr/>
        </p:nvSpPr>
        <p:spPr>
          <a:xfrm>
            <a:off x="749808" y="1408176"/>
            <a:ext cx="2020824" cy="40233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📄  Books</a:t>
            </a:r>
            <a:endParaRPr/>
          </a:p>
          <a:p>
            <a:pPr indent="0" lvl="0" marL="0" marR="0" rtl="0" algn="ctr">
              <a:lnSpc>
                <a:spcPct val="102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GL · ERP (NetSuite)</a:t>
            </a:r>
            <a:endParaRPr/>
          </a:p>
        </p:txBody>
      </p:sp>
      <p:sp>
        <p:nvSpPr>
          <p:cNvPr id="122" name="Google Shape;122;p12"/>
          <p:cNvSpPr/>
          <p:nvPr/>
        </p:nvSpPr>
        <p:spPr>
          <a:xfrm>
            <a:off x="640080" y="1956816"/>
            <a:ext cx="2240280" cy="548640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12"/>
          <p:cNvSpPr txBox="1"/>
          <p:nvPr/>
        </p:nvSpPr>
        <p:spPr>
          <a:xfrm>
            <a:off x="749808" y="2029968"/>
            <a:ext cx="2020824" cy="40233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🗄  Stripe</a:t>
            </a:r>
            <a:endParaRPr/>
          </a:p>
          <a:p>
            <a:pPr indent="0" lvl="0" marL="0" marR="0" rtl="0" algn="ctr">
              <a:lnSpc>
                <a:spcPct val="102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Issuing · Treasury · AP</a:t>
            </a:r>
            <a:endParaRPr/>
          </a:p>
        </p:txBody>
      </p:sp>
      <p:sp>
        <p:nvSpPr>
          <p:cNvPr id="124" name="Google Shape;124;p12"/>
          <p:cNvSpPr/>
          <p:nvPr/>
        </p:nvSpPr>
        <p:spPr>
          <a:xfrm>
            <a:off x="2999232" y="1783080"/>
            <a:ext cx="502920" cy="27432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CBD2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2"/>
          <p:cNvSpPr/>
          <p:nvPr/>
        </p:nvSpPr>
        <p:spPr>
          <a:xfrm>
            <a:off x="3611880" y="1440180"/>
            <a:ext cx="2331720" cy="960120"/>
          </a:xfrm>
          <a:prstGeom prst="roundRect">
            <a:avLst>
              <a:gd fmla="val 10000" name="adj"/>
            </a:avLst>
          </a:prstGeom>
          <a:solidFill>
            <a:srgbClr val="FCEFE3"/>
          </a:solidFill>
          <a:ln cap="flat" cmpd="sng" w="12700">
            <a:solidFill>
              <a:srgbClr val="ED7D3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2"/>
          <p:cNvSpPr txBox="1"/>
          <p:nvPr/>
        </p:nvSpPr>
        <p:spPr>
          <a:xfrm>
            <a:off x="3721583" y="1595082"/>
            <a:ext cx="2112300" cy="54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9A3412"/>
                </a:solidFill>
                <a:latin typeface="Calibri"/>
                <a:ea typeface="Calibri"/>
                <a:cs typeface="Calibri"/>
                <a:sym typeface="Calibri"/>
              </a:rPr>
              <a:t>Stripify</a:t>
            </a:r>
            <a:r>
              <a:rPr b="1" i="0" lang="en" sz="1300" u="none" cap="none" strike="noStrike">
                <a:solidFill>
                  <a:srgbClr val="9A3412"/>
                </a:solidFill>
                <a:latin typeface="Calibri"/>
                <a:ea typeface="Calibri"/>
                <a:cs typeface="Calibri"/>
                <a:sym typeface="Calibri"/>
              </a:rPr>
              <a:t> engine</a:t>
            </a:r>
            <a:endParaRPr/>
          </a:p>
          <a:p>
            <a:pPr indent="0" lvl="0" marL="0" marR="0" rtl="0" algn="ctr">
              <a:lnSpc>
                <a:spcPct val="102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scores every txn · replays policy</a:t>
            </a:r>
            <a:endParaRPr/>
          </a:p>
          <a:p>
            <a:pPr indent="0" lvl="0" marL="0" marR="0" rtl="0" algn="ctr">
              <a:lnSpc>
                <a:spcPct val="102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reconcile to the GL?</a:t>
            </a:r>
            <a:endParaRPr/>
          </a:p>
        </p:txBody>
      </p:sp>
      <p:sp>
        <p:nvSpPr>
          <p:cNvPr id="127" name="Google Shape;127;p12"/>
          <p:cNvSpPr/>
          <p:nvPr/>
        </p:nvSpPr>
        <p:spPr>
          <a:xfrm>
            <a:off x="6053328" y="1792224"/>
            <a:ext cx="502920" cy="27432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CBD2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12"/>
          <p:cNvSpPr/>
          <p:nvPr/>
        </p:nvSpPr>
        <p:spPr>
          <a:xfrm>
            <a:off x="6656832" y="1554480"/>
            <a:ext cx="1847088" cy="777240"/>
          </a:xfrm>
          <a:prstGeom prst="roundRect">
            <a:avLst>
              <a:gd fmla="val 10000" name="adj"/>
            </a:avLst>
          </a:prstGeom>
          <a:solidFill>
            <a:srgbClr val="E7F6EC"/>
          </a:solidFill>
          <a:ln cap="flat" cmpd="sng" w="12700">
            <a:solidFill>
              <a:srgbClr val="BFE6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2"/>
          <p:cNvSpPr txBox="1"/>
          <p:nvPr/>
        </p:nvSpPr>
        <p:spPr>
          <a:xfrm>
            <a:off x="6766560" y="1627632"/>
            <a:ext cx="1627632" cy="6309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30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✓ Verified</a:t>
            </a:r>
            <a:endParaRPr/>
          </a:p>
          <a:p>
            <a:pPr indent="0" lvl="0" marL="0" marR="0" rtl="0" algn="ctr">
              <a:lnSpc>
                <a:spcPct val="102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close-ready &amp; audit-ready</a:t>
            </a:r>
            <a:endParaRPr/>
          </a:p>
        </p:txBody>
      </p:sp>
      <p:sp>
        <p:nvSpPr>
          <p:cNvPr id="130" name="Google Shape;130;p12"/>
          <p:cNvSpPr txBox="1"/>
          <p:nvPr/>
        </p:nvSpPr>
        <p:spPr>
          <a:xfrm>
            <a:off x="640080" y="2578608"/>
            <a:ext cx="7863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 synthetic Stripe tenant is calibrated to realistic spend — fraud, policy, and tie-out all proven on it. “Calibrated demo data.”</a:t>
            </a:r>
            <a:endParaRPr/>
          </a:p>
        </p:txBody>
      </p:sp>
      <p:sp>
        <p:nvSpPr>
          <p:cNvPr id="131" name="Google Shape;131;p12"/>
          <p:cNvSpPr/>
          <p:nvPr/>
        </p:nvSpPr>
        <p:spPr>
          <a:xfrm>
            <a:off x="640080" y="2907792"/>
            <a:ext cx="3840480" cy="146304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12"/>
          <p:cNvSpPr txBox="1"/>
          <p:nvPr/>
        </p:nvSpPr>
        <p:spPr>
          <a:xfrm>
            <a:off x="822959" y="3035808"/>
            <a:ext cx="3474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35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Card + AP unlocks</a:t>
            </a:r>
            <a:endParaRPr/>
          </a:p>
        </p:txBody>
      </p:sp>
      <p:sp>
        <p:nvSpPr>
          <p:cNvPr id="133" name="Google Shape;133;p12"/>
          <p:cNvSpPr txBox="1"/>
          <p:nvPr/>
        </p:nvSpPr>
        <p:spPr>
          <a:xfrm>
            <a:off x="822959" y="3364992"/>
            <a:ext cx="3474720" cy="8961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en" sz="105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Fraud rings </a:t>
            </a:r>
            <a:r>
              <a:rPr b="0" i="0" lang="en" sz="10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— shared-card collusion the static rules miss.</a:t>
            </a:r>
            <a:endParaRPr/>
          </a:p>
          <a:p>
            <a:pPr indent="0" lvl="0" marL="0" marR="0" rtl="0" algn="l">
              <a:lnSpc>
                <a:spcPct val="103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en" sz="105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Policy leakage </a:t>
            </a:r>
            <a:r>
              <a:rPr b="0" i="0" lang="en" sz="10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— replay a new policy over history, see the $ impact.</a:t>
            </a:r>
            <a:endParaRPr/>
          </a:p>
          <a:p>
            <a:pPr indent="0" lvl="0" marL="0" marR="0" rtl="0" algn="l">
              <a:lnSpc>
                <a:spcPct val="103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en" sz="105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Duplicate &amp; bank-change AP </a:t>
            </a:r>
            <a:r>
              <a:rPr b="0" i="0" lang="en" sz="10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— stopped before Bill Pay sends a cent.</a:t>
            </a:r>
            <a:endParaRPr/>
          </a:p>
        </p:txBody>
      </p:sp>
      <p:sp>
        <p:nvSpPr>
          <p:cNvPr id="134" name="Google Shape;134;p12"/>
          <p:cNvSpPr/>
          <p:nvPr/>
        </p:nvSpPr>
        <p:spPr>
          <a:xfrm>
            <a:off x="4663440" y="2907792"/>
            <a:ext cx="3840480" cy="146304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12"/>
          <p:cNvSpPr txBox="1"/>
          <p:nvPr/>
        </p:nvSpPr>
        <p:spPr>
          <a:xfrm>
            <a:off x="4846320" y="3035808"/>
            <a:ext cx="3474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35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Cash + Credit unlocks</a:t>
            </a:r>
            <a:endParaRPr/>
          </a:p>
        </p:txBody>
      </p:sp>
      <p:sp>
        <p:nvSpPr>
          <p:cNvPr id="136" name="Google Shape;136;p12"/>
          <p:cNvSpPr txBox="1"/>
          <p:nvPr/>
        </p:nvSpPr>
        <p:spPr>
          <a:xfrm>
            <a:off x="4846320" y="3364992"/>
            <a:ext cx="3474720" cy="8961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en" sz="105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Causal runway </a:t>
            </a:r>
            <a:r>
              <a:rPr b="0" i="0" lang="en" sz="10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— do-operator what-ifs, not a re-plotted trend.</a:t>
            </a:r>
            <a:endParaRPr/>
          </a:p>
          <a:p>
            <a:pPr indent="0" lvl="0" marL="0" marR="0" rtl="0" algn="l">
              <a:lnSpc>
                <a:spcPct val="103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en" sz="105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Idle-cash yield </a:t>
            </a:r>
            <a:r>
              <a:rPr b="0" i="0" lang="en" sz="10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— the Stripe Treasury sweep opportunity, quantified.</a:t>
            </a:r>
            <a:endParaRPr/>
          </a:p>
          <a:p>
            <a:pPr indent="0" lvl="0" marL="0" marR="0" rtl="0" algn="l">
              <a:lnSpc>
                <a:spcPct val="103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en" sz="105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Underwriting &amp; limits </a:t>
            </a:r>
            <a:r>
              <a:rPr b="0" i="0" lang="en" sz="10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— a PD model recommends the credit line.</a:t>
            </a:r>
            <a:endParaRPr/>
          </a:p>
        </p:txBody>
      </p:sp>
      <p:sp>
        <p:nvSpPr>
          <p:cNvPr id="137" name="Google Shape;137;p12"/>
          <p:cNvSpPr/>
          <p:nvPr/>
        </p:nvSpPr>
        <p:spPr>
          <a:xfrm>
            <a:off x="640080" y="4535424"/>
            <a:ext cx="7863840" cy="384048"/>
          </a:xfrm>
          <a:prstGeom prst="roundRect">
            <a:avLst>
              <a:gd fmla="val 50000" name="adj"/>
            </a:avLst>
          </a:prstGeom>
          <a:solidFill>
            <a:srgbClr val="FCEFE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12"/>
          <p:cNvSpPr txBox="1"/>
          <p:nvPr/>
        </p:nvSpPr>
        <p:spPr>
          <a:xfrm>
            <a:off x="868680" y="4535424"/>
            <a:ext cx="74066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50" u="none" cap="none" strike="noStrike">
                <a:solidFill>
                  <a:srgbClr val="9A3412"/>
                </a:solidFill>
                <a:latin typeface="Calibri"/>
                <a:ea typeface="Calibri"/>
                <a:cs typeface="Calibri"/>
                <a:sym typeface="Calibri"/>
              </a:rPr>
              <a:t>The same engine that scores a charge proves the books tie out to it — </a:t>
            </a:r>
            <a:r>
              <a:rPr b="0" i="0" lang="en" sz="10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the trust layer that lets Stripe Assistant act on real spend.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3"/>
          <p:cNvSpPr/>
          <p:nvPr/>
        </p:nvSpPr>
        <p:spPr>
          <a:xfrm>
            <a:off x="632079" y="0"/>
            <a:ext cx="7879800" cy="143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3"/>
          <p:cNvSpPr/>
          <p:nvPr/>
        </p:nvSpPr>
        <p:spPr>
          <a:xfrm>
            <a:off x="630936" y="764626"/>
            <a:ext cx="7879800" cy="13800"/>
          </a:xfrm>
          <a:prstGeom prst="rect">
            <a:avLst/>
          </a:prstGeom>
          <a:solidFill>
            <a:srgbClr val="D5D5D5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3"/>
          <p:cNvSpPr txBox="1"/>
          <p:nvPr/>
        </p:nvSpPr>
        <p:spPr>
          <a:xfrm>
            <a:off x="628650" y="238125"/>
            <a:ext cx="78771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Experience </a:t>
            </a:r>
            <a:r>
              <a:rPr b="1" lang="en" sz="3200">
                <a:latin typeface="Calibri"/>
                <a:ea typeface="Calibri"/>
                <a:cs typeface="Calibri"/>
                <a:sym typeface="Calibri"/>
              </a:rPr>
              <a:t>Time</a:t>
            </a:r>
            <a:endParaRPr b="1" sz="3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46" name="Google Shape;146;p13"/>
          <p:cNvGrpSpPr/>
          <p:nvPr/>
        </p:nvGrpSpPr>
        <p:grpSpPr>
          <a:xfrm>
            <a:off x="628650" y="952500"/>
            <a:ext cx="4762500" cy="1143000"/>
            <a:chOff x="0" y="0"/>
            <a:chExt cx="4762500" cy="1143000"/>
          </a:xfrm>
        </p:grpSpPr>
        <p:sp>
          <p:nvSpPr>
            <p:cNvPr id="147" name="Google Shape;147;p13"/>
            <p:cNvSpPr/>
            <p:nvPr/>
          </p:nvSpPr>
          <p:spPr>
            <a:xfrm>
              <a:off x="0" y="0"/>
              <a:ext cx="4762500" cy="1143000"/>
            </a:xfrm>
            <a:prstGeom prst="roundRect">
              <a:avLst>
                <a:gd fmla="val 12500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" name="Google Shape;148;p13"/>
            <p:cNvSpPr txBox="1"/>
            <p:nvPr/>
          </p:nvSpPr>
          <p:spPr>
            <a:xfrm>
              <a:off x="0" y="0"/>
              <a:ext cx="47625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42875" lIns="142875" spcFirstLastPara="1" rIns="142875" wrap="square" tIns="1428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600">
                  <a:solidFill>
                    <a:srgbClr val="ED7D31"/>
                  </a:solidFill>
                  <a:latin typeface="Calibri"/>
                  <a:ea typeface="Calibri"/>
                  <a:cs typeface="Calibri"/>
                  <a:sym typeface="Calibri"/>
                </a:rPr>
                <a:t>Machine Learning Intern | Capgemini</a:t>
              </a:r>
              <a:endParaRPr b="1" sz="1600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64748B"/>
                  </a:solidFill>
                  <a:latin typeface="Calibri"/>
                  <a:ea typeface="Calibri"/>
                  <a:cs typeface="Calibri"/>
                  <a:sym typeface="Calibri"/>
                </a:rPr>
                <a:t>Feb 2026 – May 2026 | New York, USA</a:t>
              </a:r>
              <a:endParaRPr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Deployed modular LSTM-Attention Autoencoder on edge devices to predict hardware degradation.</a:t>
              </a:r>
              <a:endParaRPr sz="11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9" name="Google Shape;149;p13"/>
          <p:cNvGrpSpPr/>
          <p:nvPr/>
        </p:nvGrpSpPr>
        <p:grpSpPr>
          <a:xfrm>
            <a:off x="628650" y="2286000"/>
            <a:ext cx="4762500" cy="1143000"/>
            <a:chOff x="0" y="0"/>
            <a:chExt cx="4762500" cy="1143000"/>
          </a:xfrm>
        </p:grpSpPr>
        <p:sp>
          <p:nvSpPr>
            <p:cNvPr id="150" name="Google Shape;150;p13"/>
            <p:cNvSpPr/>
            <p:nvPr/>
          </p:nvSpPr>
          <p:spPr>
            <a:xfrm>
              <a:off x="0" y="0"/>
              <a:ext cx="4762500" cy="1143000"/>
            </a:xfrm>
            <a:prstGeom prst="roundRect">
              <a:avLst>
                <a:gd fmla="val 12500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" name="Google Shape;151;p13"/>
            <p:cNvSpPr txBox="1"/>
            <p:nvPr/>
          </p:nvSpPr>
          <p:spPr>
            <a:xfrm>
              <a:off x="0" y="0"/>
              <a:ext cx="47625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42875" lIns="142875" spcFirstLastPara="1" rIns="142875" wrap="square" tIns="1428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600">
                  <a:solidFill>
                    <a:srgbClr val="ED7D31"/>
                  </a:solidFill>
                  <a:latin typeface="Calibri"/>
                  <a:ea typeface="Calibri"/>
                  <a:cs typeface="Calibri"/>
                  <a:sym typeface="Calibri"/>
                </a:rPr>
                <a:t>Graduate Research Assistant | NYU VIDA Lab</a:t>
              </a:r>
              <a:endParaRPr b="1" sz="1600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64748B"/>
                  </a:solidFill>
                  <a:latin typeface="Calibri"/>
                  <a:ea typeface="Calibri"/>
                  <a:cs typeface="Calibri"/>
                  <a:sym typeface="Calibri"/>
                </a:rPr>
                <a:t>Mar 2025 – May 2026 | Brooklyn, USA</a:t>
              </a:r>
              <a:endParaRPr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Architected HRNet-based pose estimation pipeline for pedestrian behavior research achieving 95% accuracy.</a:t>
              </a:r>
              <a:endParaRPr sz="11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2" name="Google Shape;152;p13"/>
          <p:cNvGrpSpPr/>
          <p:nvPr/>
        </p:nvGrpSpPr>
        <p:grpSpPr>
          <a:xfrm>
            <a:off x="628650" y="3619500"/>
            <a:ext cx="4762500" cy="1143000"/>
            <a:chOff x="0" y="0"/>
            <a:chExt cx="4762500" cy="1143000"/>
          </a:xfrm>
        </p:grpSpPr>
        <p:sp>
          <p:nvSpPr>
            <p:cNvPr id="153" name="Google Shape;153;p13"/>
            <p:cNvSpPr/>
            <p:nvPr/>
          </p:nvSpPr>
          <p:spPr>
            <a:xfrm>
              <a:off x="0" y="0"/>
              <a:ext cx="4762500" cy="1143000"/>
            </a:xfrm>
            <a:prstGeom prst="roundRect">
              <a:avLst>
                <a:gd fmla="val 12500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" name="Google Shape;154;p13"/>
            <p:cNvSpPr txBox="1"/>
            <p:nvPr/>
          </p:nvSpPr>
          <p:spPr>
            <a:xfrm>
              <a:off x="0" y="0"/>
              <a:ext cx="47625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42875" lIns="142875" spcFirstLastPara="1" rIns="142875" wrap="square" tIns="1428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600">
                  <a:solidFill>
                    <a:srgbClr val="ED7D31"/>
                  </a:solidFill>
                  <a:latin typeface="Calibri"/>
                  <a:ea typeface="Calibri"/>
                  <a:cs typeface="Calibri"/>
                  <a:sym typeface="Calibri"/>
                </a:rPr>
                <a:t>Software Engineer Intern | Sycamore</a:t>
              </a:r>
              <a:endParaRPr b="1" sz="1600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64748B"/>
                  </a:solidFill>
                  <a:latin typeface="Calibri"/>
                  <a:ea typeface="Calibri"/>
                  <a:cs typeface="Calibri"/>
                  <a:sym typeface="Calibri"/>
                </a:rPr>
                <a:t>Jun 2025 – Aug 2025 | Massachusetts, USA</a:t>
              </a:r>
              <a:endParaRPr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Designed Full-Stack engine using React.js UI and PostgreSQL for modular stateful trees and interactive monaco editor.</a:t>
              </a:r>
              <a:endParaRPr sz="11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5" name="Google Shape;155;p13"/>
          <p:cNvGrpSpPr/>
          <p:nvPr/>
        </p:nvGrpSpPr>
        <p:grpSpPr>
          <a:xfrm>
            <a:off x="628650" y="4838700"/>
            <a:ext cx="7877100" cy="238200"/>
            <a:chOff x="0" y="0"/>
            <a:chExt cx="7877100" cy="238200"/>
          </a:xfrm>
        </p:grpSpPr>
        <p:sp>
          <p:nvSpPr>
            <p:cNvPr id="156" name="Google Shape;156;p13"/>
            <p:cNvSpPr/>
            <p:nvPr/>
          </p:nvSpPr>
          <p:spPr>
            <a:xfrm>
              <a:off x="0" y="0"/>
              <a:ext cx="7877100" cy="238200"/>
            </a:xfrm>
            <a:prstGeom prst="roundRect">
              <a:avLst>
                <a:gd fmla="val 20000" name="adj"/>
              </a:avLst>
            </a:prstGeom>
            <a:solidFill>
              <a:srgbClr val="D9D2E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" name="Google Shape;157;p13"/>
            <p:cNvSpPr txBox="1"/>
            <p:nvPr/>
          </p:nvSpPr>
          <p:spPr>
            <a:xfrm>
              <a:off x="0" y="0"/>
              <a:ext cx="7877100" cy="238200"/>
            </a:xfrm>
            <a:prstGeom prst="rect">
              <a:avLst/>
            </a:prstGeom>
            <a:solidFill>
              <a:srgbClr val="D9D2E9"/>
            </a:solidFill>
            <a:ln>
              <a:noFill/>
            </a:ln>
          </p:spPr>
          <p:txBody>
            <a:bodyPr anchorCtr="0" anchor="ctr" bIns="0" lIns="95250" spcFirstLastPara="1" rIns="9525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Skills:</a:t>
              </a:r>
              <a:r>
                <a:rPr lang="en" sz="12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 Python, Java, React.js, Node.js, SQL, TensorFlow, PyTorch, Kubernetes, Docker, AWS (EC2), ETL, Generative AI</a:t>
              </a:r>
              <a:endParaRPr sz="12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8" name="Google Shape;158;p13"/>
          <p:cNvGrpSpPr/>
          <p:nvPr/>
        </p:nvGrpSpPr>
        <p:grpSpPr>
          <a:xfrm>
            <a:off x="5524500" y="809625"/>
            <a:ext cx="3298546" cy="1047900"/>
            <a:chOff x="0" y="0"/>
            <a:chExt cx="3048000" cy="1047900"/>
          </a:xfrm>
        </p:grpSpPr>
        <p:sp>
          <p:nvSpPr>
            <p:cNvPr id="159" name="Google Shape;159;p13"/>
            <p:cNvSpPr/>
            <p:nvPr/>
          </p:nvSpPr>
          <p:spPr>
            <a:xfrm>
              <a:off x="0" y="0"/>
              <a:ext cx="3048000" cy="1047900"/>
            </a:xfrm>
            <a:custGeom>
              <a:rect b="b" l="l" r="r" t="t"/>
              <a:pathLst>
                <a:path extrusionOk="0" h="120000" w="120000">
                  <a:moveTo>
                    <a:pt x="0" y="21818"/>
                  </a:moveTo>
                  <a:quadBezTo>
                    <a:pt x="0" y="0"/>
                    <a:pt x="7500" y="0"/>
                  </a:quadBezTo>
                  <a:lnTo>
                    <a:pt x="112500" y="0"/>
                  </a:lnTo>
                  <a:quadBezTo>
                    <a:pt x="120000" y="0"/>
                    <a:pt x="120000" y="21818"/>
                  </a:quadBezTo>
                  <a:lnTo>
                    <a:pt x="120000" y="65455"/>
                  </a:lnTo>
                  <a:quadBezTo>
                    <a:pt x="120000" y="87273"/>
                    <a:pt x="112500" y="87273"/>
                  </a:quadBezTo>
                  <a:lnTo>
                    <a:pt x="15000" y="87273"/>
                  </a:lnTo>
                  <a:lnTo>
                    <a:pt x="3750" y="120000"/>
                  </a:lnTo>
                  <a:lnTo>
                    <a:pt x="3750" y="87273"/>
                  </a:lnTo>
                  <a:quadBezTo>
                    <a:pt x="0" y="87273"/>
                    <a:pt x="0" y="65455"/>
                  </a:quadBezTo>
                  <a:close/>
                </a:path>
              </a:pathLst>
            </a:custGeom>
            <a:solidFill>
              <a:srgbClr val="C9DAF8"/>
            </a:solidFill>
            <a:ln cap="flat" cmpd="sng" w="9525">
              <a:solidFill>
                <a:srgbClr val="FDBA7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" name="Google Shape;160;p13"/>
            <p:cNvSpPr txBox="1"/>
            <p:nvPr/>
          </p:nvSpPr>
          <p:spPr>
            <a:xfrm>
              <a:off x="142875" y="95250"/>
              <a:ext cx="2762400" cy="666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1" lang="en" sz="1100">
                  <a:solidFill>
                    <a:srgbClr val="9A3412"/>
                  </a:solidFill>
                  <a:latin typeface="Calibri"/>
                  <a:ea typeface="Calibri"/>
                  <a:cs typeface="Calibri"/>
                  <a:sym typeface="Calibri"/>
                </a:rPr>
                <a:t>5-STAGE PIPELINE</a:t>
              </a:r>
              <a:endParaRPr b="1" i="1" sz="1100">
                <a:solidFill>
                  <a:srgbClr val="9A3412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1" lang="en" sz="1100">
                  <a:solidFill>
                    <a:srgbClr val="9A3412"/>
                  </a:solidFill>
                  <a:latin typeface="Calibri"/>
                  <a:ea typeface="Calibri"/>
                  <a:cs typeface="Calibri"/>
                  <a:sym typeface="Calibri"/>
                </a:rPr>
                <a:t>windowing → LSTM auto-encoder → temporal attention → reconstruction-error scoring → alerting</a:t>
              </a:r>
              <a:endParaRPr b="0" i="1" sz="1100">
                <a:solidFill>
                  <a:srgbClr val="9A341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1" name="Google Shape;161;p13"/>
          <p:cNvGrpSpPr/>
          <p:nvPr/>
        </p:nvGrpSpPr>
        <p:grpSpPr>
          <a:xfrm>
            <a:off x="5524500" y="2143125"/>
            <a:ext cx="3298546" cy="1047900"/>
            <a:chOff x="0" y="0"/>
            <a:chExt cx="3048000" cy="1047900"/>
          </a:xfrm>
        </p:grpSpPr>
        <p:sp>
          <p:nvSpPr>
            <p:cNvPr id="162" name="Google Shape;162;p13"/>
            <p:cNvSpPr/>
            <p:nvPr/>
          </p:nvSpPr>
          <p:spPr>
            <a:xfrm>
              <a:off x="0" y="0"/>
              <a:ext cx="3048000" cy="1047900"/>
            </a:xfrm>
            <a:custGeom>
              <a:rect b="b" l="l" r="r" t="t"/>
              <a:pathLst>
                <a:path extrusionOk="0" h="120000" w="120000">
                  <a:moveTo>
                    <a:pt x="0" y="21818"/>
                  </a:moveTo>
                  <a:quadBezTo>
                    <a:pt x="0" y="0"/>
                    <a:pt x="7500" y="0"/>
                  </a:quadBezTo>
                  <a:lnTo>
                    <a:pt x="112500" y="0"/>
                  </a:lnTo>
                  <a:quadBezTo>
                    <a:pt x="120000" y="0"/>
                    <a:pt x="120000" y="21818"/>
                  </a:quadBezTo>
                  <a:lnTo>
                    <a:pt x="120000" y="65455"/>
                  </a:lnTo>
                  <a:quadBezTo>
                    <a:pt x="120000" y="87273"/>
                    <a:pt x="112500" y="87273"/>
                  </a:quadBezTo>
                  <a:lnTo>
                    <a:pt x="15000" y="87273"/>
                  </a:lnTo>
                  <a:lnTo>
                    <a:pt x="3750" y="120000"/>
                  </a:lnTo>
                  <a:lnTo>
                    <a:pt x="3750" y="87273"/>
                  </a:lnTo>
                  <a:quadBezTo>
                    <a:pt x="0" y="87273"/>
                    <a:pt x="0" y="65455"/>
                  </a:quadBezTo>
                  <a:close/>
                </a:path>
              </a:pathLst>
            </a:custGeom>
            <a:solidFill>
              <a:srgbClr val="C9DAF8"/>
            </a:solidFill>
            <a:ln cap="flat" cmpd="sng" w="9525">
              <a:solidFill>
                <a:srgbClr val="FDBA7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" name="Google Shape;163;p13"/>
            <p:cNvSpPr txBox="1"/>
            <p:nvPr/>
          </p:nvSpPr>
          <p:spPr>
            <a:xfrm>
              <a:off x="142875" y="95250"/>
              <a:ext cx="2762400" cy="666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1" lang="en" sz="1100">
                  <a:solidFill>
                    <a:srgbClr val="9A3412"/>
                  </a:solidFill>
                  <a:latin typeface="Calibri"/>
                  <a:ea typeface="Calibri"/>
                  <a:cs typeface="Calibri"/>
                  <a:sym typeface="Calibri"/>
                </a:rPr>
                <a:t>PIPELINE</a:t>
              </a:r>
              <a:endParaRPr b="1" i="1" sz="1100">
                <a:solidFill>
                  <a:srgbClr val="9A3412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1" lang="en" sz="1100">
                  <a:solidFill>
                    <a:srgbClr val="9A3412"/>
                  </a:solidFill>
                  <a:latin typeface="Calibri"/>
                  <a:ea typeface="Calibri"/>
                  <a:cs typeface="Calibri"/>
                  <a:sym typeface="Calibri"/>
                </a:rPr>
                <a:t>person detection → HRNet keypoint regression → multi-object tracking → behavior features</a:t>
              </a:r>
              <a:endParaRPr b="0" i="1" sz="1100">
                <a:solidFill>
                  <a:srgbClr val="9A341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4" name="Google Shape;164;p13"/>
          <p:cNvGrpSpPr/>
          <p:nvPr/>
        </p:nvGrpSpPr>
        <p:grpSpPr>
          <a:xfrm>
            <a:off x="5524500" y="3476625"/>
            <a:ext cx="3298546" cy="1047900"/>
            <a:chOff x="0" y="0"/>
            <a:chExt cx="3048000" cy="1047900"/>
          </a:xfrm>
        </p:grpSpPr>
        <p:sp>
          <p:nvSpPr>
            <p:cNvPr id="165" name="Google Shape;165;p13"/>
            <p:cNvSpPr/>
            <p:nvPr/>
          </p:nvSpPr>
          <p:spPr>
            <a:xfrm>
              <a:off x="0" y="0"/>
              <a:ext cx="3048000" cy="1047900"/>
            </a:xfrm>
            <a:custGeom>
              <a:rect b="b" l="l" r="r" t="t"/>
              <a:pathLst>
                <a:path extrusionOk="0" h="120000" w="120000">
                  <a:moveTo>
                    <a:pt x="0" y="21818"/>
                  </a:moveTo>
                  <a:quadBezTo>
                    <a:pt x="0" y="0"/>
                    <a:pt x="7500" y="0"/>
                  </a:quadBezTo>
                  <a:lnTo>
                    <a:pt x="112500" y="0"/>
                  </a:lnTo>
                  <a:quadBezTo>
                    <a:pt x="120000" y="0"/>
                    <a:pt x="120000" y="21818"/>
                  </a:quadBezTo>
                  <a:lnTo>
                    <a:pt x="120000" y="65455"/>
                  </a:lnTo>
                  <a:quadBezTo>
                    <a:pt x="120000" y="87273"/>
                    <a:pt x="112500" y="87273"/>
                  </a:quadBezTo>
                  <a:lnTo>
                    <a:pt x="15000" y="87273"/>
                  </a:lnTo>
                  <a:lnTo>
                    <a:pt x="3750" y="120000"/>
                  </a:lnTo>
                  <a:lnTo>
                    <a:pt x="3750" y="87273"/>
                  </a:lnTo>
                  <a:quadBezTo>
                    <a:pt x="0" y="87273"/>
                    <a:pt x="0" y="65455"/>
                  </a:quadBezTo>
                  <a:close/>
                </a:path>
              </a:pathLst>
            </a:custGeom>
            <a:solidFill>
              <a:srgbClr val="C9DAF8"/>
            </a:solidFill>
            <a:ln cap="flat" cmpd="sng" w="9525">
              <a:solidFill>
                <a:srgbClr val="FDBA7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" name="Google Shape;166;p13"/>
            <p:cNvSpPr txBox="1"/>
            <p:nvPr/>
          </p:nvSpPr>
          <p:spPr>
            <a:xfrm>
              <a:off x="142875" y="95250"/>
              <a:ext cx="2762400" cy="666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1" lang="en" sz="1100">
                  <a:solidFill>
                    <a:srgbClr val="9A3412"/>
                  </a:solidFill>
                  <a:latin typeface="Calibri"/>
                  <a:ea typeface="Calibri"/>
                  <a:cs typeface="Calibri"/>
                  <a:sym typeface="Calibri"/>
                </a:rPr>
                <a:t>STACK &amp; DESIGN</a:t>
              </a:r>
              <a:endParaRPr b="1" i="1" sz="1100">
                <a:solidFill>
                  <a:srgbClr val="9A3412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1" lang="en" sz="1100">
                  <a:solidFill>
                    <a:srgbClr val="9A3412"/>
                  </a:solidFill>
                  <a:latin typeface="Calibri"/>
                  <a:ea typeface="Calibri"/>
                  <a:cs typeface="Calibri"/>
                  <a:sym typeface="Calibri"/>
                </a:rPr>
                <a:t>recursive React tree editor · typed Node REST APIs · normalized PostgreSQL for versioned tree state</a:t>
              </a:r>
              <a:endParaRPr b="0" i="1" sz="1100">
                <a:solidFill>
                  <a:srgbClr val="9A341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4"/>
          <p:cNvSpPr/>
          <p:nvPr/>
        </p:nvSpPr>
        <p:spPr>
          <a:xfrm>
            <a:off x="632079" y="0"/>
            <a:ext cx="7879800" cy="1434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14"/>
          <p:cNvSpPr/>
          <p:nvPr/>
        </p:nvSpPr>
        <p:spPr>
          <a:xfrm>
            <a:off x="630936" y="764629"/>
            <a:ext cx="7879800" cy="13800"/>
          </a:xfrm>
          <a:prstGeom prst="rect">
            <a:avLst/>
          </a:prstGeom>
          <a:solidFill>
            <a:srgbClr val="D5D5D5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14"/>
          <p:cNvSpPr txBox="1"/>
          <p:nvPr/>
        </p:nvSpPr>
        <p:spPr>
          <a:xfrm>
            <a:off x="571500" y="142875"/>
            <a:ext cx="76200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latin typeface="Calibri"/>
                <a:ea typeface="Calibri"/>
                <a:cs typeface="Calibri"/>
                <a:sym typeface="Calibri"/>
              </a:rPr>
              <a:t>Ex-</a:t>
            </a:r>
            <a:r>
              <a:rPr b="1" lang="en" sz="3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Founder Story: Grapher Labs</a:t>
            </a:r>
            <a:endParaRPr b="1" sz="36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4"/>
          <p:cNvSpPr txBox="1"/>
          <p:nvPr/>
        </p:nvSpPr>
        <p:spPr>
          <a:xfrm>
            <a:off x="628650" y="809625"/>
            <a:ext cx="79440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11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Causal cash-flow &amp; runway simulation engine for CFOs. Completed customer discovery calls and </a:t>
            </a:r>
            <a:r>
              <a:rPr lang="en" sz="111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evaluated product market fit. Selected and completed NYU Leslie Accelerator program</a:t>
            </a:r>
            <a:r>
              <a:rPr b="0" lang="en" sz="111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| </a:t>
            </a:r>
            <a:r>
              <a:rPr lang="en" sz="111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September </a:t>
            </a:r>
            <a:r>
              <a:rPr b="0" lang="en" sz="111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2025 — </a:t>
            </a:r>
            <a:r>
              <a:rPr lang="en" sz="111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May 2026</a:t>
            </a:r>
            <a:endParaRPr b="0" sz="111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75" name="Google Shape;175;p14"/>
          <p:cNvGrpSpPr/>
          <p:nvPr/>
        </p:nvGrpSpPr>
        <p:grpSpPr>
          <a:xfrm>
            <a:off x="571500" y="1333500"/>
            <a:ext cx="2000100" cy="952500"/>
            <a:chOff x="0" y="0"/>
            <a:chExt cx="2000100" cy="952500"/>
          </a:xfrm>
        </p:grpSpPr>
        <p:sp>
          <p:nvSpPr>
            <p:cNvPr id="176" name="Google Shape;176;p14"/>
            <p:cNvSpPr/>
            <p:nvPr/>
          </p:nvSpPr>
          <p:spPr>
            <a:xfrm>
              <a:off x="0" y="0"/>
              <a:ext cx="2000100" cy="952500"/>
            </a:xfrm>
            <a:prstGeom prst="roundRect">
              <a:avLst>
                <a:gd fmla="val 8000" name="adj"/>
              </a:avLst>
            </a:prstGeom>
            <a:solidFill>
              <a:srgbClr val="F8F9FA"/>
            </a:solidFill>
            <a:ln cap="flat" cmpd="sng" w="9525">
              <a:solidFill>
                <a:srgbClr val="E0E0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" name="Google Shape;177;p14"/>
            <p:cNvSpPr txBox="1"/>
            <p:nvPr/>
          </p:nvSpPr>
          <p:spPr>
            <a:xfrm>
              <a:off x="0" y="0"/>
              <a:ext cx="20001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800">
                  <a:solidFill>
                    <a:srgbClr val="ED7D31"/>
                  </a:solidFill>
                  <a:latin typeface="Calibri"/>
                  <a:ea typeface="Calibri"/>
                  <a:cs typeface="Calibri"/>
                  <a:sym typeface="Calibri"/>
                </a:rPr>
                <a:t>151</a:t>
              </a:r>
              <a:endParaRPr b="1" sz="2800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444444"/>
                  </a:solidFill>
                  <a:latin typeface="Calibri"/>
                  <a:ea typeface="Calibri"/>
                  <a:cs typeface="Calibri"/>
                  <a:sym typeface="Calibri"/>
                </a:rPr>
                <a:t>Customer Discovery Calls</a:t>
              </a:r>
              <a:endParaRPr b="0" sz="1000">
                <a:solidFill>
                  <a:srgbClr val="444444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8" name="Google Shape;178;p14"/>
          <p:cNvGrpSpPr/>
          <p:nvPr/>
        </p:nvGrpSpPr>
        <p:grpSpPr>
          <a:xfrm>
            <a:off x="2667000" y="1333500"/>
            <a:ext cx="2000100" cy="952500"/>
            <a:chOff x="0" y="0"/>
            <a:chExt cx="2000100" cy="952500"/>
          </a:xfrm>
        </p:grpSpPr>
        <p:sp>
          <p:nvSpPr>
            <p:cNvPr id="179" name="Google Shape;179;p14"/>
            <p:cNvSpPr/>
            <p:nvPr/>
          </p:nvSpPr>
          <p:spPr>
            <a:xfrm>
              <a:off x="0" y="0"/>
              <a:ext cx="2000100" cy="952500"/>
            </a:xfrm>
            <a:prstGeom prst="roundRect">
              <a:avLst>
                <a:gd fmla="val 8000" name="adj"/>
              </a:avLst>
            </a:prstGeom>
            <a:solidFill>
              <a:srgbClr val="F8F9FA"/>
            </a:solidFill>
            <a:ln cap="flat" cmpd="sng" w="9525">
              <a:solidFill>
                <a:srgbClr val="E0E0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" name="Google Shape;180;p14"/>
            <p:cNvSpPr txBox="1"/>
            <p:nvPr/>
          </p:nvSpPr>
          <p:spPr>
            <a:xfrm>
              <a:off x="0" y="0"/>
              <a:ext cx="20001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800">
                  <a:solidFill>
                    <a:srgbClr val="ED7D3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b="1" sz="2800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444444"/>
                  </a:solidFill>
                  <a:latin typeface="Calibri"/>
                  <a:ea typeface="Calibri"/>
                  <a:cs typeface="Calibri"/>
                  <a:sym typeface="Calibri"/>
                </a:rPr>
                <a:t>Letters of Intent(LOIs) Signed</a:t>
              </a:r>
              <a:endParaRPr b="0" sz="1000">
                <a:solidFill>
                  <a:srgbClr val="444444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1" name="Google Shape;181;p14"/>
          <p:cNvGrpSpPr/>
          <p:nvPr/>
        </p:nvGrpSpPr>
        <p:grpSpPr>
          <a:xfrm>
            <a:off x="4762500" y="1333500"/>
            <a:ext cx="2000100" cy="952500"/>
            <a:chOff x="0" y="0"/>
            <a:chExt cx="2000100" cy="952500"/>
          </a:xfrm>
        </p:grpSpPr>
        <p:sp>
          <p:nvSpPr>
            <p:cNvPr id="182" name="Google Shape;182;p14"/>
            <p:cNvSpPr/>
            <p:nvPr/>
          </p:nvSpPr>
          <p:spPr>
            <a:xfrm>
              <a:off x="0" y="0"/>
              <a:ext cx="2000100" cy="952500"/>
            </a:xfrm>
            <a:prstGeom prst="roundRect">
              <a:avLst>
                <a:gd fmla="val 8000" name="adj"/>
              </a:avLst>
            </a:prstGeom>
            <a:solidFill>
              <a:srgbClr val="F8F9FA"/>
            </a:solidFill>
            <a:ln cap="flat" cmpd="sng" w="9525">
              <a:solidFill>
                <a:srgbClr val="E0E0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" name="Google Shape;183;p14"/>
            <p:cNvSpPr txBox="1"/>
            <p:nvPr/>
          </p:nvSpPr>
          <p:spPr>
            <a:xfrm>
              <a:off x="0" y="0"/>
              <a:ext cx="20001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800">
                  <a:solidFill>
                    <a:srgbClr val="ED7D3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b="1" sz="2800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444444"/>
                  </a:solidFill>
                  <a:latin typeface="Calibri"/>
                  <a:ea typeface="Calibri"/>
                  <a:cs typeface="Calibri"/>
                  <a:sym typeface="Calibri"/>
                </a:rPr>
                <a:t> Pilots </a:t>
              </a:r>
              <a:r>
                <a:rPr lang="en" sz="1000">
                  <a:solidFill>
                    <a:srgbClr val="444444"/>
                  </a:solidFill>
                  <a:latin typeface="Calibri"/>
                  <a:ea typeface="Calibri"/>
                  <a:cs typeface="Calibri"/>
                  <a:sym typeface="Calibri"/>
                </a:rPr>
                <a:t>Tested</a:t>
              </a:r>
              <a:endParaRPr b="0" sz="1000">
                <a:solidFill>
                  <a:srgbClr val="444444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4" name="Google Shape;184;p14"/>
          <p:cNvGrpSpPr/>
          <p:nvPr/>
        </p:nvGrpSpPr>
        <p:grpSpPr>
          <a:xfrm>
            <a:off x="6858000" y="1333500"/>
            <a:ext cx="1714500" cy="952500"/>
            <a:chOff x="0" y="0"/>
            <a:chExt cx="1714500" cy="952500"/>
          </a:xfrm>
        </p:grpSpPr>
        <p:sp>
          <p:nvSpPr>
            <p:cNvPr id="185" name="Google Shape;185;p14"/>
            <p:cNvSpPr/>
            <p:nvPr/>
          </p:nvSpPr>
          <p:spPr>
            <a:xfrm>
              <a:off x="0" y="0"/>
              <a:ext cx="1714500" cy="952500"/>
            </a:xfrm>
            <a:prstGeom prst="roundRect">
              <a:avLst>
                <a:gd fmla="val 8000" name="adj"/>
              </a:avLst>
            </a:prstGeom>
            <a:solidFill>
              <a:srgbClr val="F8F9FA"/>
            </a:solidFill>
            <a:ln cap="flat" cmpd="sng" w="9525">
              <a:solidFill>
                <a:srgbClr val="E0E0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" name="Google Shape;186;p14"/>
            <p:cNvSpPr txBox="1"/>
            <p:nvPr/>
          </p:nvSpPr>
          <p:spPr>
            <a:xfrm>
              <a:off x="0" y="0"/>
              <a:ext cx="1714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800">
                  <a:solidFill>
                    <a:srgbClr val="ED7D3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b="1" sz="2800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444444"/>
                  </a:solidFill>
                  <a:latin typeface="Calibri"/>
                  <a:ea typeface="Calibri"/>
                  <a:cs typeface="Calibri"/>
                  <a:sym typeface="Calibri"/>
                </a:rPr>
                <a:t>Networking Event Hosted</a:t>
              </a:r>
              <a:endParaRPr b="0" sz="1000">
                <a:solidFill>
                  <a:srgbClr val="444444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7" name="Google Shape;187;p14"/>
          <p:cNvSpPr txBox="1"/>
          <p:nvPr/>
        </p:nvSpPr>
        <p:spPr>
          <a:xfrm>
            <a:off x="571500" y="2476500"/>
            <a:ext cx="3810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95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Key Milestones &amp; Learning</a:t>
            </a:r>
            <a:endParaRPr b="1" sz="1295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0833" lvl="0" marL="457200" rtl="0" algn="l">
              <a:spcBef>
                <a:spcPts val="750"/>
              </a:spcBef>
              <a:spcAft>
                <a:spcPts val="0"/>
              </a:spcAft>
              <a:buSzPts val="1295"/>
              <a:buChar char="●"/>
            </a:pPr>
            <a:r>
              <a:rPr b="1" lang="en" sz="111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Built &amp; shipped MVP:</a:t>
            </a:r>
            <a:r>
              <a:rPr b="0" lang="en" sz="111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Architected the core cash-flow engine.</a:t>
            </a:r>
            <a:endParaRPr b="0" sz="111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0833" lvl="0" marL="457200" rtl="0" algn="l">
              <a:spcBef>
                <a:spcPts val="600"/>
              </a:spcBef>
              <a:spcAft>
                <a:spcPts val="0"/>
              </a:spcAft>
              <a:buSzPts val="1295"/>
              <a:buChar char="●"/>
            </a:pPr>
            <a:r>
              <a:rPr b="1" lang="en" sz="111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Talked to real buyers:</a:t>
            </a:r>
            <a:r>
              <a:rPr b="0" lang="en" sz="111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Direct feedback from CFO</a:t>
            </a:r>
            <a:r>
              <a:rPr lang="en" sz="111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s and </a:t>
            </a:r>
            <a:r>
              <a:rPr b="0" lang="en" sz="111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VPs of Finance.</a:t>
            </a:r>
            <a:endParaRPr b="0" sz="111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0833" lvl="0" marL="457200" rtl="0" algn="l">
              <a:spcBef>
                <a:spcPts val="600"/>
              </a:spcBef>
              <a:spcAft>
                <a:spcPts val="0"/>
              </a:spcAft>
              <a:buSzPts val="1295"/>
              <a:buChar char="●"/>
            </a:pPr>
            <a:r>
              <a:rPr b="1" lang="en" sz="111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Learned to sell:</a:t>
            </a:r>
            <a:r>
              <a:rPr b="0" lang="en" sz="111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From discovery to closing design partners.</a:t>
            </a:r>
            <a:endParaRPr b="0" sz="111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0833" lvl="0" marL="457200" rtl="0" algn="l">
              <a:spcBef>
                <a:spcPts val="600"/>
              </a:spcBef>
              <a:spcAft>
                <a:spcPts val="0"/>
              </a:spcAft>
              <a:buSzPts val="1295"/>
              <a:buChar char="●"/>
            </a:pPr>
            <a:r>
              <a:rPr b="1" lang="en" sz="111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Navigated the hard parts:</a:t>
            </a:r>
            <a:r>
              <a:rPr b="0" lang="en" sz="111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Managing pilots and design iteration.</a:t>
            </a:r>
            <a:endParaRPr b="0" sz="111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88" name="Google Shape;188;p14"/>
          <p:cNvGrpSpPr/>
          <p:nvPr/>
        </p:nvGrpSpPr>
        <p:grpSpPr>
          <a:xfrm>
            <a:off x="575251" y="4516349"/>
            <a:ext cx="1829700" cy="341627"/>
            <a:chOff x="590290" y="-239250"/>
            <a:chExt cx="1829700" cy="477600"/>
          </a:xfrm>
        </p:grpSpPr>
        <p:sp>
          <p:nvSpPr>
            <p:cNvPr id="189" name="Google Shape;189;p14"/>
            <p:cNvSpPr/>
            <p:nvPr/>
          </p:nvSpPr>
          <p:spPr>
            <a:xfrm>
              <a:off x="590290" y="-239250"/>
              <a:ext cx="1829700" cy="477600"/>
            </a:xfrm>
            <a:prstGeom prst="roundRect">
              <a:avLst>
                <a:gd fmla="val 50000" name="adj"/>
              </a:avLst>
            </a:prstGeom>
            <a:solidFill>
              <a:srgbClr val="ED7D3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" name="Google Shape;190;p14"/>
            <p:cNvSpPr txBox="1"/>
            <p:nvPr/>
          </p:nvSpPr>
          <p:spPr>
            <a:xfrm>
              <a:off x="701415" y="-191401"/>
              <a:ext cx="1650900" cy="381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Link: </a:t>
              </a:r>
              <a:r>
                <a:rPr b="1" lang="en" sz="1300" u="sng">
                  <a:solidFill>
                    <a:schemeClr val="hlink"/>
                  </a:solidFill>
                  <a:latin typeface="Calibri"/>
                  <a:ea typeface="Calibri"/>
                  <a:cs typeface="Calibri"/>
                  <a:sym typeface="Calibri"/>
                  <a:hlinkClick r:id="rId3"/>
                </a:rPr>
                <a:t>GrapherLabs.com</a:t>
              </a:r>
              <a:endParaRPr b="1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91" name="Google Shape;191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38650" y="2422475"/>
            <a:ext cx="4466977" cy="22796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5"/>
          <p:cNvSpPr/>
          <p:nvPr/>
        </p:nvSpPr>
        <p:spPr>
          <a:xfrm>
            <a:off x="632079" y="0"/>
            <a:ext cx="7879800" cy="143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5"/>
          <p:cNvSpPr/>
          <p:nvPr/>
        </p:nvSpPr>
        <p:spPr>
          <a:xfrm>
            <a:off x="630936" y="764626"/>
            <a:ext cx="7879800" cy="13800"/>
          </a:xfrm>
          <a:prstGeom prst="rect">
            <a:avLst/>
          </a:prstGeom>
          <a:solidFill>
            <a:srgbClr val="D5D5D5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8" name="Google Shape;198;p15"/>
          <p:cNvPicPr preferRelativeResize="0"/>
          <p:nvPr/>
        </p:nvPicPr>
        <p:blipFill rotWithShape="1">
          <a:blip r:embed="rId3">
            <a:alphaModFix/>
          </a:blip>
          <a:srcRect b="0" l="10" r="20" t="0"/>
          <a:stretch/>
        </p:blipFill>
        <p:spPr>
          <a:xfrm>
            <a:off x="4572000" y="1174950"/>
            <a:ext cx="4191000" cy="279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15"/>
          <p:cNvPicPr preferRelativeResize="0"/>
          <p:nvPr/>
        </p:nvPicPr>
        <p:blipFill rotWithShape="1">
          <a:blip r:embed="rId4">
            <a:alphaModFix/>
          </a:blip>
          <a:srcRect b="25003" l="0" r="0" t="25003"/>
          <a:stretch/>
        </p:blipFill>
        <p:spPr>
          <a:xfrm>
            <a:off x="304800" y="1174950"/>
            <a:ext cx="4191000" cy="27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15"/>
          <p:cNvSpPr txBox="1"/>
          <p:nvPr/>
        </p:nvSpPr>
        <p:spPr>
          <a:xfrm>
            <a:off x="547800" y="87000"/>
            <a:ext cx="8215200" cy="122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</a:pPr>
            <a:r>
              <a:rPr b="1" lang="en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Hackathon Story: </a:t>
            </a:r>
            <a:endParaRPr b="1"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</a:pPr>
            <a:r>
              <a:rPr b="1" lang="en" sz="3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Mistral AI Worldwide Hackathon’26</a:t>
            </a:r>
            <a:endParaRPr b="1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5"/>
          <p:cNvSpPr txBox="1"/>
          <p:nvPr/>
        </p:nvSpPr>
        <p:spPr>
          <a:xfrm>
            <a:off x="303625" y="4069425"/>
            <a:ext cx="8534400" cy="8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Winner (Best Use of Hugging Face) - Mistral AI Worldwide Hackathon '26</a:t>
            </a:r>
            <a:endParaRPr b="1" sz="1400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375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Developed "Agentic World": Behavioral Digital Twins using Mistral Small 3.1 and Codestral to auto-generate DOM interaction scripts.</a:t>
            </a:r>
            <a:endParaRPr sz="14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375"/>
              </a:spcBef>
              <a:spcAft>
                <a:spcPts val="0"/>
              </a:spcAft>
              <a:buNone/>
            </a:pPr>
            <a:r>
              <a:rPr lang="en">
                <a:solidFill>
                  <a:srgbClr val="1A1A1A"/>
                </a:solidFill>
                <a:highlight>
                  <a:srgbClr val="FDFDFC"/>
                </a:highlight>
                <a:latin typeface="Calibri"/>
                <a:ea typeface="Calibri"/>
                <a:cs typeface="Calibri"/>
                <a:sym typeface="Calibri"/>
              </a:rPr>
              <a:t>Stack: Mistral Small 3.1 · Nvidia Nemo </a:t>
            </a:r>
            <a:r>
              <a:rPr lang="en">
                <a:solidFill>
                  <a:srgbClr val="1A1A1A"/>
                </a:solidFill>
                <a:highlight>
                  <a:srgbClr val="FDFDFC"/>
                </a:highlight>
                <a:latin typeface="Calibri"/>
                <a:ea typeface="Calibri"/>
                <a:cs typeface="Calibri"/>
                <a:sym typeface="Calibri"/>
              </a:rPr>
              <a:t>· Nvidia 49b · </a:t>
            </a:r>
            <a:r>
              <a:rPr lang="en">
                <a:solidFill>
                  <a:srgbClr val="1A1A1A"/>
                </a:solidFill>
                <a:highlight>
                  <a:srgbClr val="FDFDFC"/>
                </a:highlight>
                <a:latin typeface="Calibri"/>
                <a:ea typeface="Calibri"/>
                <a:cs typeface="Calibri"/>
                <a:sym typeface="Calibri"/>
              </a:rPr>
              <a:t> Codestral · Hugging Face · Playwright · Python</a:t>
            </a: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375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6"/>
          <p:cNvSpPr/>
          <p:nvPr/>
        </p:nvSpPr>
        <p:spPr>
          <a:xfrm>
            <a:off x="632079" y="0"/>
            <a:ext cx="7879800" cy="143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6"/>
          <p:cNvSpPr/>
          <p:nvPr/>
        </p:nvSpPr>
        <p:spPr>
          <a:xfrm>
            <a:off x="630936" y="764626"/>
            <a:ext cx="7879800" cy="13800"/>
          </a:xfrm>
          <a:prstGeom prst="rect">
            <a:avLst/>
          </a:prstGeom>
          <a:solidFill>
            <a:srgbClr val="D5D5D5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8" name="Google Shape;208;p16"/>
          <p:cNvPicPr preferRelativeResize="0"/>
          <p:nvPr/>
        </p:nvPicPr>
        <p:blipFill rotWithShape="1">
          <a:blip r:embed="rId3">
            <a:alphaModFix/>
          </a:blip>
          <a:srcRect b="10" l="0" r="0" t="0"/>
          <a:stretch/>
        </p:blipFill>
        <p:spPr>
          <a:xfrm>
            <a:off x="304800" y="882300"/>
            <a:ext cx="4192200" cy="279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16"/>
          <p:cNvPicPr preferRelativeResize="0"/>
          <p:nvPr/>
        </p:nvPicPr>
        <p:blipFill rotWithShape="1">
          <a:blip r:embed="rId4">
            <a:alphaModFix/>
          </a:blip>
          <a:srcRect b="10" l="0" r="0" t="0"/>
          <a:stretch/>
        </p:blipFill>
        <p:spPr>
          <a:xfrm>
            <a:off x="4648300" y="938714"/>
            <a:ext cx="4192200" cy="27936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16"/>
          <p:cNvGrpSpPr/>
          <p:nvPr/>
        </p:nvGrpSpPr>
        <p:grpSpPr>
          <a:xfrm>
            <a:off x="571500" y="0"/>
            <a:ext cx="5715000" cy="807600"/>
            <a:chOff x="0" y="0"/>
            <a:chExt cx="5715000" cy="807600"/>
          </a:xfrm>
        </p:grpSpPr>
        <p:sp>
          <p:nvSpPr>
            <p:cNvPr id="211" name="Google Shape;211;p16"/>
            <p:cNvSpPr/>
            <p:nvPr/>
          </p:nvSpPr>
          <p:spPr>
            <a:xfrm>
              <a:off x="0" y="0"/>
              <a:ext cx="5715000" cy="807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" name="Google Shape;212;p16"/>
            <p:cNvSpPr txBox="1"/>
            <p:nvPr/>
          </p:nvSpPr>
          <p:spPr>
            <a:xfrm>
              <a:off x="0" y="0"/>
              <a:ext cx="5715000" cy="80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36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Iterate X Columbia Hackathon</a:t>
              </a:r>
              <a:endParaRPr b="1" sz="3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3" name="Google Shape;213;p16"/>
          <p:cNvGrpSpPr/>
          <p:nvPr/>
        </p:nvGrpSpPr>
        <p:grpSpPr>
          <a:xfrm>
            <a:off x="303625" y="3892625"/>
            <a:ext cx="8535575" cy="1155700"/>
            <a:chOff x="-1175" y="-346000"/>
            <a:chExt cx="8535575" cy="1155700"/>
          </a:xfrm>
        </p:grpSpPr>
        <p:sp>
          <p:nvSpPr>
            <p:cNvPr id="214" name="Google Shape;214;p16"/>
            <p:cNvSpPr/>
            <p:nvPr/>
          </p:nvSpPr>
          <p:spPr>
            <a:xfrm>
              <a:off x="0" y="0"/>
              <a:ext cx="8534400" cy="809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" name="Google Shape;215;p16"/>
            <p:cNvSpPr txBox="1"/>
            <p:nvPr/>
          </p:nvSpPr>
          <p:spPr>
            <a:xfrm>
              <a:off x="-1175" y="-346000"/>
              <a:ext cx="8534400" cy="809700"/>
            </a:xfrm>
            <a:prstGeom prst="rect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>
                  <a:solidFill>
                    <a:srgbClr val="ED7D31"/>
                  </a:solidFill>
                  <a:latin typeface="Calibri"/>
                  <a:ea typeface="Calibri"/>
                  <a:cs typeface="Calibri"/>
                  <a:sym typeface="Calibri"/>
                </a:rPr>
                <a:t>3rd Place Overall &amp; Best Use of Blaxel (YC’25)</a:t>
              </a:r>
              <a:r>
                <a:rPr b="1" lang="en" sz="1400">
                  <a:solidFill>
                    <a:srgbClr val="ED7D31"/>
                  </a:solidFill>
                  <a:latin typeface="Calibri"/>
                  <a:ea typeface="Calibri"/>
                  <a:cs typeface="Calibri"/>
                  <a:sym typeface="Calibri"/>
                </a:rPr>
                <a:t> - Iterate X Columbia Hack'26</a:t>
              </a:r>
              <a:endParaRPr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75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>
                  <a:solidFill>
                    <a:srgbClr val="595959"/>
                  </a:solidFill>
                  <a:latin typeface="Calibri"/>
                  <a:ea typeface="Calibri"/>
                  <a:cs typeface="Calibri"/>
                  <a:sym typeface="Calibri"/>
                </a:rPr>
                <a:t>Built an automated MCP adapter sandbox: parses any OpenAPI/Swagger spec and code-generates typed, agent-callable MCP tools on sandboxed serverless functions and REST APIs into LLM tools with zero glue code.</a:t>
              </a:r>
              <a:endParaRPr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b="1" lang="en">
                  <a:solidFill>
                    <a:srgbClr val="595959"/>
                  </a:solidFill>
                  <a:latin typeface="Calibri"/>
                  <a:ea typeface="Calibri"/>
                  <a:cs typeface="Calibri"/>
                  <a:sym typeface="Calibri"/>
                </a:rPr>
                <a:t>STACK</a:t>
              </a:r>
              <a:r>
                <a:rPr lang="en">
                  <a:solidFill>
                    <a:srgbClr val="595959"/>
                  </a:solidFill>
                  <a:latin typeface="Calibri"/>
                  <a:ea typeface="Calibri"/>
                  <a:cs typeface="Calibri"/>
                  <a:sym typeface="Calibri"/>
                </a:rPr>
                <a:t>: OpenAPI → MCP codegen · JSON-Schema tool defs · sandboxed serverless execution · tool-calling</a:t>
              </a:r>
              <a:endParaRPr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6" name="Google Shape;216;p16"/>
          <p:cNvGrpSpPr/>
          <p:nvPr/>
        </p:nvGrpSpPr>
        <p:grpSpPr>
          <a:xfrm>
            <a:off x="7006900" y="535039"/>
            <a:ext cx="1833600" cy="842081"/>
            <a:chOff x="2199025" y="-857113"/>
            <a:chExt cx="1833600" cy="1050238"/>
          </a:xfrm>
        </p:grpSpPr>
        <p:sp>
          <p:nvSpPr>
            <p:cNvPr id="217" name="Google Shape;217;p16"/>
            <p:cNvSpPr/>
            <p:nvPr/>
          </p:nvSpPr>
          <p:spPr>
            <a:xfrm>
              <a:off x="2272425" y="-759375"/>
              <a:ext cx="1760100" cy="952500"/>
            </a:xfrm>
            <a:custGeom>
              <a:rect b="b" l="l" r="r" t="t"/>
              <a:pathLst>
                <a:path extrusionOk="0" h="120000" w="120000">
                  <a:moveTo>
                    <a:pt x="0" y="23077"/>
                  </a:moveTo>
                  <a:cubicBezTo>
                    <a:pt x="0" y="10332"/>
                    <a:pt x="6716" y="0"/>
                    <a:pt x="15000" y="0"/>
                  </a:cubicBezTo>
                  <a:lnTo>
                    <a:pt x="105000" y="0"/>
                  </a:lnTo>
                  <a:cubicBezTo>
                    <a:pt x="113284" y="0"/>
                    <a:pt x="120000" y="10332"/>
                    <a:pt x="120000" y="23077"/>
                  </a:cubicBezTo>
                  <a:lnTo>
                    <a:pt x="120000" y="69231"/>
                  </a:lnTo>
                  <a:cubicBezTo>
                    <a:pt x="120000" y="81976"/>
                    <a:pt x="113284" y="92308"/>
                    <a:pt x="105000" y="92308"/>
                  </a:cubicBezTo>
                  <a:lnTo>
                    <a:pt x="24000" y="92308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1F2937"/>
            </a:solidFill>
            <a:ln cap="flat" cmpd="sng" w="9525">
              <a:solidFill>
                <a:srgbClr val="37415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" name="Google Shape;218;p16"/>
            <p:cNvSpPr txBox="1"/>
            <p:nvPr/>
          </p:nvSpPr>
          <p:spPr>
            <a:xfrm>
              <a:off x="2199025" y="-857113"/>
              <a:ext cx="1833600" cy="952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95250" lIns="95250" spcFirstLastPara="1" rIns="95250" wrap="square" tIns="9525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1" lang="en" sz="1100">
                  <a:solidFill>
                    <a:srgbClr val="F9FAFB"/>
                  </a:solidFill>
                  <a:latin typeface="Calibri"/>
                  <a:ea typeface="Calibri"/>
                  <a:cs typeface="Calibri"/>
                  <a:sym typeface="Calibri"/>
                </a:rPr>
                <a:t>Had to do </a:t>
              </a:r>
              <a:r>
                <a:rPr i="1" lang="en" sz="1100">
                  <a:solidFill>
                    <a:srgbClr val="F9FAFB"/>
                  </a:solidFill>
                  <a:latin typeface="Calibri"/>
                  <a:ea typeface="Calibri"/>
                  <a:cs typeface="Calibri"/>
                  <a:sym typeface="Calibri"/>
                </a:rPr>
                <a:t>impromptu</a:t>
              </a:r>
              <a:r>
                <a:rPr i="1" lang="en" sz="1100">
                  <a:solidFill>
                    <a:srgbClr val="F9FAFB"/>
                  </a:solidFill>
                  <a:latin typeface="Calibri"/>
                  <a:ea typeface="Calibri"/>
                  <a:cs typeface="Calibri"/>
                  <a:sym typeface="Calibri"/>
                </a:rPr>
                <a:t> talk on stage if selected as finalists</a:t>
              </a:r>
              <a:r>
                <a:rPr b="0" i="1" lang="en" sz="1100">
                  <a:solidFill>
                    <a:srgbClr val="F9FAFB"/>
                  </a:solidFill>
                  <a:latin typeface="Calibri"/>
                  <a:ea typeface="Calibri"/>
                  <a:cs typeface="Calibri"/>
                  <a:sym typeface="Calibri"/>
                </a:rPr>
                <a:t>!</a:t>
              </a:r>
              <a:endParaRPr b="0" i="1" sz="1100">
                <a:solidFill>
                  <a:srgbClr val="F9FAF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7"/>
          <p:cNvSpPr/>
          <p:nvPr/>
        </p:nvSpPr>
        <p:spPr>
          <a:xfrm>
            <a:off x="632079" y="0"/>
            <a:ext cx="7879800" cy="143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7"/>
          <p:cNvSpPr/>
          <p:nvPr/>
        </p:nvSpPr>
        <p:spPr>
          <a:xfrm>
            <a:off x="630936" y="764626"/>
            <a:ext cx="7879800" cy="13800"/>
          </a:xfrm>
          <a:prstGeom prst="rect">
            <a:avLst/>
          </a:prstGeom>
          <a:solidFill>
            <a:srgbClr val="D5D5D5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5" name="Google Shape;225;p17"/>
          <p:cNvPicPr preferRelativeResize="0"/>
          <p:nvPr/>
        </p:nvPicPr>
        <p:blipFill rotWithShape="1">
          <a:blip r:embed="rId3">
            <a:alphaModFix/>
          </a:blip>
          <a:srcRect b="10" l="0" r="0" t="10"/>
          <a:stretch/>
        </p:blipFill>
        <p:spPr>
          <a:xfrm>
            <a:off x="2105100" y="807600"/>
            <a:ext cx="4371600" cy="32883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6" name="Google Shape;226;p17"/>
          <p:cNvGrpSpPr/>
          <p:nvPr/>
        </p:nvGrpSpPr>
        <p:grpSpPr>
          <a:xfrm>
            <a:off x="571500" y="0"/>
            <a:ext cx="5715000" cy="807600"/>
            <a:chOff x="0" y="0"/>
            <a:chExt cx="5715000" cy="807600"/>
          </a:xfrm>
        </p:grpSpPr>
        <p:sp>
          <p:nvSpPr>
            <p:cNvPr id="227" name="Google Shape;227;p17"/>
            <p:cNvSpPr/>
            <p:nvPr/>
          </p:nvSpPr>
          <p:spPr>
            <a:xfrm>
              <a:off x="0" y="0"/>
              <a:ext cx="5715000" cy="807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" name="Google Shape;228;p17"/>
            <p:cNvSpPr txBox="1"/>
            <p:nvPr/>
          </p:nvSpPr>
          <p:spPr>
            <a:xfrm>
              <a:off x="0" y="0"/>
              <a:ext cx="5715000" cy="80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36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Columbia Devfest Hackathon</a:t>
              </a:r>
              <a:endParaRPr b="1" sz="3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9" name="Google Shape;229;p17"/>
          <p:cNvGrpSpPr/>
          <p:nvPr/>
        </p:nvGrpSpPr>
        <p:grpSpPr>
          <a:xfrm>
            <a:off x="304800" y="4125075"/>
            <a:ext cx="8534400" cy="923250"/>
            <a:chOff x="0" y="-113550"/>
            <a:chExt cx="8534400" cy="923250"/>
          </a:xfrm>
        </p:grpSpPr>
        <p:sp>
          <p:nvSpPr>
            <p:cNvPr id="230" name="Google Shape;230;p17"/>
            <p:cNvSpPr/>
            <p:nvPr/>
          </p:nvSpPr>
          <p:spPr>
            <a:xfrm>
              <a:off x="0" y="0"/>
              <a:ext cx="8534400" cy="809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" name="Google Shape;231;p17"/>
            <p:cNvSpPr txBox="1"/>
            <p:nvPr/>
          </p:nvSpPr>
          <p:spPr>
            <a:xfrm>
              <a:off x="0" y="-113550"/>
              <a:ext cx="8534400" cy="809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>
                  <a:solidFill>
                    <a:srgbClr val="ED7D31"/>
                  </a:solidFill>
                  <a:latin typeface="Calibri"/>
                  <a:ea typeface="Calibri"/>
                  <a:cs typeface="Calibri"/>
                  <a:sym typeface="Calibri"/>
                </a:rPr>
                <a:t>Winner (Best Use of Dedalus Labs)</a:t>
              </a:r>
              <a:r>
                <a:rPr b="1" lang="en" sz="1400">
                  <a:solidFill>
                    <a:srgbClr val="ED7D31"/>
                  </a:solidFill>
                  <a:latin typeface="Calibri"/>
                  <a:ea typeface="Calibri"/>
                  <a:cs typeface="Calibri"/>
                  <a:sym typeface="Calibri"/>
                </a:rPr>
                <a:t> - Columbia Devfest '26</a:t>
              </a:r>
              <a:endParaRPr b="1" sz="1400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Built an end-to-end orchestration pipeline that scaffolds, containerizes, and deploys production-ready MCP servers — spec → Dockerized service → hosted endpoint, in one flow.</a:t>
              </a:r>
              <a:endParaRPr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1A1A1A"/>
                  </a:solidFill>
                  <a:highlight>
                    <a:srgbClr val="FDFDFC"/>
                  </a:highlight>
                  <a:latin typeface="Calibri"/>
                  <a:ea typeface="Calibri"/>
                  <a:cs typeface="Calibri"/>
                  <a:sym typeface="Calibri"/>
                </a:rPr>
                <a:t>PIPELINE: scaffold → Docker build → CI/CD deploy → hosted endpoint + health checks</a:t>
              </a:r>
              <a:r>
                <a:rPr lang="en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endParaRPr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t/>
              </a:r>
              <a:endParaRPr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t/>
              </a:r>
              <a:endParaRPr sz="1100">
                <a:solidFill>
                  <a:schemeClr val="dk1"/>
                </a:solidFill>
              </a:endParaRPr>
            </a:p>
            <a:p>
              <a:pPr indent="0" lvl="0" marL="0" rtl="0" algn="l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32" name="Google Shape;232;p17"/>
          <p:cNvGrpSpPr/>
          <p:nvPr/>
        </p:nvGrpSpPr>
        <p:grpSpPr>
          <a:xfrm>
            <a:off x="222350" y="1752611"/>
            <a:ext cx="2003666" cy="598018"/>
            <a:chOff x="-62300" y="-333375"/>
            <a:chExt cx="1930500" cy="1714500"/>
          </a:xfrm>
        </p:grpSpPr>
        <p:sp>
          <p:nvSpPr>
            <p:cNvPr id="233" name="Google Shape;233;p17"/>
            <p:cNvSpPr/>
            <p:nvPr/>
          </p:nvSpPr>
          <p:spPr>
            <a:xfrm rot="5400000">
              <a:off x="45700" y="-441375"/>
              <a:ext cx="1714500" cy="1930500"/>
            </a:xfrm>
            <a:custGeom>
              <a:rect b="b" l="l" r="r" t="t"/>
              <a:pathLst>
                <a:path extrusionOk="0" h="120000" w="120000">
                  <a:moveTo>
                    <a:pt x="6667" y="21818"/>
                  </a:moveTo>
                  <a:cubicBezTo>
                    <a:pt x="2200" y="21818"/>
                    <a:pt x="0" y="25418"/>
                    <a:pt x="0" y="32727"/>
                  </a:cubicBezTo>
                  <a:lnTo>
                    <a:pt x="0" y="109091"/>
                  </a:lnTo>
                  <a:cubicBezTo>
                    <a:pt x="0" y="116400"/>
                    <a:pt x="2200" y="120000"/>
                    <a:pt x="6667" y="120000"/>
                  </a:cubicBezTo>
                  <a:lnTo>
                    <a:pt x="113333" y="120000"/>
                  </a:lnTo>
                  <a:cubicBezTo>
                    <a:pt x="117800" y="120000"/>
                    <a:pt x="120000" y="116400"/>
                    <a:pt x="120000" y="109091"/>
                  </a:cubicBezTo>
                  <a:lnTo>
                    <a:pt x="120000" y="32727"/>
                  </a:lnTo>
                  <a:cubicBezTo>
                    <a:pt x="120000" y="25418"/>
                    <a:pt x="117800" y="21818"/>
                    <a:pt x="113333" y="21818"/>
                  </a:cubicBezTo>
                  <a:lnTo>
                    <a:pt x="73333" y="21818"/>
                  </a:lnTo>
                  <a:lnTo>
                    <a:pt x="66667" y="0"/>
                  </a:lnTo>
                  <a:lnTo>
                    <a:pt x="60000" y="21818"/>
                  </a:lnTo>
                  <a:close/>
                </a:path>
              </a:pathLst>
            </a:custGeom>
            <a:solidFill>
              <a:schemeClr val="lt1"/>
            </a:solidFill>
            <a:ln cap="flat" cmpd="sng" w="9525">
              <a:solidFill>
                <a:srgbClr val="D1D5D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" name="Google Shape;234;p17"/>
            <p:cNvSpPr txBox="1"/>
            <p:nvPr/>
          </p:nvSpPr>
          <p:spPr>
            <a:xfrm>
              <a:off x="-62300" y="-75"/>
              <a:ext cx="1524000" cy="10479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1" lang="en" sz="1100">
                  <a:solidFill>
                    <a:srgbClr val="4B5563"/>
                  </a:solidFill>
                  <a:latin typeface="Calibri"/>
                  <a:ea typeface="Calibri"/>
                  <a:cs typeface="Calibri"/>
                  <a:sym typeface="Calibri"/>
                </a:rPr>
                <a:t>Pulled an all nighter for this one at the Columbia Library</a:t>
              </a:r>
              <a:endParaRPr i="1" sz="1100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8"/>
          <p:cNvSpPr/>
          <p:nvPr/>
        </p:nvSpPr>
        <p:spPr>
          <a:xfrm>
            <a:off x="632079" y="0"/>
            <a:ext cx="7879800" cy="143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8"/>
          <p:cNvSpPr/>
          <p:nvPr/>
        </p:nvSpPr>
        <p:spPr>
          <a:xfrm>
            <a:off x="630936" y="764626"/>
            <a:ext cx="7879800" cy="13800"/>
          </a:xfrm>
          <a:prstGeom prst="rect">
            <a:avLst/>
          </a:prstGeom>
          <a:solidFill>
            <a:srgbClr val="D5D5D5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8"/>
          <p:cNvSpPr txBox="1"/>
          <p:nvPr/>
        </p:nvSpPr>
        <p:spPr>
          <a:xfrm>
            <a:off x="632275" y="168263"/>
            <a:ext cx="78771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latin typeface="Calibri"/>
                <a:ea typeface="Calibri"/>
                <a:cs typeface="Calibri"/>
                <a:sym typeface="Calibri"/>
              </a:rPr>
              <a:t>Github: </a:t>
            </a:r>
            <a:r>
              <a:rPr lang="en" sz="3200">
                <a:latin typeface="Calibri"/>
                <a:ea typeface="Calibri"/>
                <a:cs typeface="Calibri"/>
                <a:sym typeface="Calibri"/>
              </a:rPr>
              <a:t>Harshini2212</a:t>
            </a:r>
            <a:endParaRPr sz="3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2" name="Google Shape;242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803275"/>
            <a:ext cx="5766427" cy="2791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570100" y="2448150"/>
            <a:ext cx="5514701" cy="2602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9"/>
          <p:cNvSpPr/>
          <p:nvPr/>
        </p:nvSpPr>
        <p:spPr>
          <a:xfrm>
            <a:off x="632079" y="0"/>
            <a:ext cx="7879800" cy="1434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19"/>
          <p:cNvSpPr/>
          <p:nvPr/>
        </p:nvSpPr>
        <p:spPr>
          <a:xfrm>
            <a:off x="632086" y="453076"/>
            <a:ext cx="7879800" cy="13800"/>
          </a:xfrm>
          <a:prstGeom prst="rect">
            <a:avLst/>
          </a:prstGeom>
          <a:solidFill>
            <a:srgbClr val="D5D5D5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19"/>
          <p:cNvSpPr txBox="1"/>
          <p:nvPr/>
        </p:nvSpPr>
        <p:spPr>
          <a:xfrm>
            <a:off x="628650" y="142875"/>
            <a:ext cx="78867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WHY </a:t>
            </a:r>
            <a:r>
              <a:rPr b="1" lang="en" sz="1500">
                <a:latin typeface="Calibri"/>
                <a:ea typeface="Calibri"/>
                <a:cs typeface="Calibri"/>
                <a:sym typeface="Calibri"/>
              </a:rPr>
              <a:t>STRIPE</a:t>
            </a:r>
            <a:r>
              <a:rPr b="1" lang="en" sz="1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, WHY ME</a:t>
            </a:r>
            <a:endParaRPr b="1" sz="15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4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9"/>
          <p:cNvSpPr txBox="1"/>
          <p:nvPr/>
        </p:nvSpPr>
        <p:spPr>
          <a:xfrm>
            <a:off x="521125" y="1447525"/>
            <a:ext cx="4895100" cy="34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rPr b="0" lang="en" sz="1800">
                <a:solidFill>
                  <a:srgbClr val="444444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r>
              <a:rPr b="0" lang="en" sz="1500">
                <a:solidFill>
                  <a:srgbClr val="444444"/>
                </a:solidFill>
                <a:latin typeface="Calibri"/>
                <a:ea typeface="Calibri"/>
                <a:cs typeface="Calibri"/>
                <a:sym typeface="Calibri"/>
              </a:rPr>
              <a:t>t's the problem I keep choosing to work on and exactly what </a:t>
            </a:r>
            <a:r>
              <a:rPr lang="en" sz="1500">
                <a:solidFill>
                  <a:srgbClr val="444444"/>
                </a:solidFill>
                <a:latin typeface="Calibri"/>
                <a:ea typeface="Calibri"/>
                <a:cs typeface="Calibri"/>
                <a:sym typeface="Calibri"/>
              </a:rPr>
              <a:t>Stripe </a:t>
            </a:r>
            <a:r>
              <a:rPr b="0" lang="en" sz="1500">
                <a:solidFill>
                  <a:srgbClr val="444444"/>
                </a:solidFill>
                <a:latin typeface="Calibri"/>
                <a:ea typeface="Calibri"/>
                <a:cs typeface="Calibri"/>
                <a:sym typeface="Calibri"/>
              </a:rPr>
              <a:t>is building. I'd love to build it with you.</a:t>
            </a:r>
            <a:endParaRPr b="0" sz="1500">
              <a:solidFill>
                <a:srgbClr val="4444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225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Harshini Vijaya </a:t>
            </a:r>
            <a:r>
              <a:rPr b="1" lang="en" sz="1800">
                <a:latin typeface="Calibri"/>
                <a:ea typeface="Calibri"/>
                <a:cs typeface="Calibri"/>
                <a:sym typeface="Calibri"/>
              </a:rPr>
              <a:t>K</a:t>
            </a:r>
            <a:r>
              <a:rPr b="1" lang="en"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umar</a:t>
            </a:r>
            <a:endParaRPr b="1"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375"/>
              </a:spcBef>
              <a:spcAft>
                <a:spcPts val="0"/>
              </a:spcAft>
              <a:buNone/>
            </a:pPr>
            <a:r>
              <a:rPr b="0"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hv2201@nyu.edu</a:t>
            </a:r>
            <a:r>
              <a:rPr b="0" lang="en" sz="13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   ·   +1 (848) 240-7937</a:t>
            </a:r>
            <a:endParaRPr b="0" sz="13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52" name="Google Shape;252;p19"/>
          <p:cNvGrpSpPr/>
          <p:nvPr/>
        </p:nvGrpSpPr>
        <p:grpSpPr>
          <a:xfrm>
            <a:off x="5524500" y="1143000"/>
            <a:ext cx="3048000" cy="3238500"/>
            <a:chOff x="0" y="0"/>
            <a:chExt cx="3048000" cy="3238500"/>
          </a:xfrm>
        </p:grpSpPr>
        <p:sp>
          <p:nvSpPr>
            <p:cNvPr id="253" name="Google Shape;253;p19"/>
            <p:cNvSpPr/>
            <p:nvPr/>
          </p:nvSpPr>
          <p:spPr>
            <a:xfrm>
              <a:off x="0" y="0"/>
              <a:ext cx="3048000" cy="3238500"/>
            </a:xfrm>
            <a:prstGeom prst="roundRect">
              <a:avLst>
                <a:gd fmla="val 3750" name="adj"/>
              </a:avLst>
            </a:prstGeom>
            <a:solidFill>
              <a:srgbClr val="FFFFFF"/>
            </a:solidFill>
            <a:ln cap="flat" cmpd="sng" w="9525">
              <a:solidFill>
                <a:srgbClr val="D5D5D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54" name="Google Shape;254;p19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476250" y="285750"/>
              <a:ext cx="2095500" cy="2095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55" name="Google Shape;255;p19"/>
            <p:cNvSpPr txBox="1"/>
            <p:nvPr/>
          </p:nvSpPr>
          <p:spPr>
            <a:xfrm>
              <a:off x="0" y="2476500"/>
              <a:ext cx="30480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ED7D31"/>
                  </a:solidFill>
                  <a:latin typeface="Calibri"/>
                  <a:ea typeface="Calibri"/>
                  <a:cs typeface="Calibri"/>
                  <a:sym typeface="Calibri"/>
                </a:rPr>
                <a:t>SCAN FOR MY CODE</a:t>
              </a:r>
              <a:endParaRPr b="1" sz="1400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 u="sng">
                  <a:solidFill>
                    <a:srgbClr val="0563C1"/>
                  </a:solidFill>
                  <a:latin typeface="Calibri"/>
                  <a:ea typeface="Calibri"/>
                  <a:cs typeface="Calibri"/>
                  <a:sym typeface="Calibri"/>
                </a:rPr>
                <a:t>harshinivijay.com</a:t>
              </a:r>
              <a:endParaRPr b="0" sz="11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6" name="Google Shape;256;p19"/>
          <p:cNvSpPr txBox="1"/>
          <p:nvPr/>
        </p:nvSpPr>
        <p:spPr>
          <a:xfrm>
            <a:off x="408325" y="906875"/>
            <a:ext cx="6054900" cy="11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32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Let's make spend &amp; cash flow AI actually trustworthy.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7" name="Google Shape;257;p1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024550" y="1447525"/>
            <a:ext cx="2047875" cy="2019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19" title="my portfolio qr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892713" y="1415963"/>
            <a:ext cx="2311575" cy="231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2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2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