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  <p:sldMasterId id="2147483654" r:id="rId5"/>
    <p:sldMasterId id="2147483655" r:id="rId6"/>
  </p:sldMasterIdLst>
  <p:notesMasterIdLst>
    <p:notesMasterId r:id="rId7"/>
  </p:notesMasterIdLst>
  <p:sldIdLst>
    <p:sldId id="256" r:id="rId8"/>
    <p:sldId id="257" r:id="rId9"/>
    <p:sldId id="258" r:id="rId10"/>
    <p:sldId id="267" r:id="rId23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font" Target="fonts/Roboto-regular.fntdata"/><Relationship Id="rId20" Type="http://schemas.openxmlformats.org/officeDocument/2006/relationships/font" Target="fonts/Roboto-bold.fntdata"/><Relationship Id="rId21" Type="http://schemas.openxmlformats.org/officeDocument/2006/relationships/font" Target="fonts/Roboto-italic.fntdata"/><Relationship Id="rId22" Type="http://schemas.openxmlformats.org/officeDocument/2006/relationships/font" Target="fonts/Roboto-boldItalic.fntdata"/><Relationship Id="rId23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ed670cae23_1_9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" name="Google Shape;45;g3ed670cae23_1_9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1bb2e2f64_2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g3f1bb2e2f64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1ba191f0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1ba191f0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1bb2e2f64_2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f1bb2e2f64_2_17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a9ac3cdea_1_4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ea9ac3cdea_1_4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d670cae23_1_1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ed670cae23_1_1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d670cae23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ed670cae23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d670cae23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ed670cae23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d670cae23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g3ed670cae23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1ba191f02_1_2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g3f1ba191f02_1_2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Architecture - the trust layer under Mercury's finance agents.</a:t>
            </a:r>
          </a:p>
          <a:p>
            <a:r>
              <a:t>- Deterministic engine runs FIRST, for $0: fraud score (gradient-boosted + graph features, AUC 0.91), policy replay (re-run a policy over history for its dollar impact), tie-out reconciliation (every number rolls up to the GL), duplicate / bank-change detection. Each emits a Finding with evidence and dollars at risk.</a:t>
            </a:r>
          </a:p>
          <a:p>
            <a:r>
              <a:t>- Where the numbers come from - real models: a fraud-ring graph (community detection over shared-card edges), causal runway (do-operator on a structural causal model, not a re-plotted trend), a PD / underwriting model for the credit-line limit, and an idle-cash yield optimizer for the Mercury Treasury sweep.</a:t>
            </a:r>
          </a:p>
          <a:p>
            <a:r>
              <a:t>- Only then does the LLM layer run, grounded by pgvector retrieval over policy / runbooks / incidents: a review analyst (Opus) co-signs or extends each finding - every finding is tagged engine / llm / both - and an adversarial guardrail judge (Opus) tries to break the proposed action. Haiku does the cheap doc / log parsing (model routing).</a:t>
            </a:r>
          </a:p>
          <a:p>
            <a:r>
              <a:t>- A proposed action is replayed on a synthetic tenant before it touches money. The gate auto-executes only when everything passes; anything risky (fraud over threshold, PII, an irreversible bank change, a tie-out mismatch, materiality over budget) HALTS for a human with the diff shown.</a:t>
            </a:r>
          </a:p>
          <a:p>
            <a:r>
              <a:t>- It is one resumable run, streamed live over SSE; approving a halted run resumes the SAME run - it never restarts. That is the trust layer that lets Mercury act on real spend.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8384287" y="4768115"/>
            <a:ext cx="34518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8384287" y="4768115"/>
            <a:ext cx="34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b8968b46d_136_0)">
  <p:cSld name="Generated (g3eb8968b46d_136_0)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b8968b46d_136_0)">
  <p:cSld name="Generated (g3eb8968b46d_136_0)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1" type="ftr"/>
          </p:nvPr>
        </p:nvSpPr>
        <p:spPr>
          <a:xfrm>
            <a:off x="8384287" y="4768115"/>
            <a:ext cx="34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7226046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7226046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7226046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hyperlink" Target="https://hebbify.up.railway.app/" TargetMode="External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grapherlabs.com" TargetMode="External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Relationship Id="rId4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Relationship Id="rId4" Type="http://schemas.openxmlformats.org/officeDocument/2006/relationships/image" Target="../media/image1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hyperlink" Target="mailto:hv2201@nyu.edu" TargetMode="External"/><Relationship Id="rId5" Type="http://schemas.openxmlformats.org/officeDocument/2006/relationships/image" Target="../media/image18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>
            <p:ph type="title"/>
          </p:nvPr>
        </p:nvSpPr>
        <p:spPr>
          <a:xfrm>
            <a:off x="631426" y="359239"/>
            <a:ext cx="5385900" cy="2403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 sz="4500"/>
              <a:t>Harshini Vijaya Kumar</a:t>
            </a:r>
            <a:endParaRPr b="1" sz="45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sz="1800">
                <a:solidFill>
                  <a:srgbClr val="12121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NYU CSE Masters, Ex-Founder, Researcher,</a:t>
            </a:r>
            <a:endParaRPr sz="5100">
              <a:highlight>
                <a:srgbClr val="FFFFFF"/>
              </a:highlight>
            </a:endParaRPr>
          </a:p>
        </p:txBody>
      </p:sp>
      <p:sp>
        <p:nvSpPr>
          <p:cNvPr id="48" name="Google Shape;48;p9"/>
          <p:cNvSpPr/>
          <p:nvPr/>
        </p:nvSpPr>
        <p:spPr>
          <a:xfrm rot="5400000">
            <a:off x="840534" y="260162"/>
            <a:ext cx="109800" cy="52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9"/>
          <p:cNvSpPr/>
          <p:nvPr/>
        </p:nvSpPr>
        <p:spPr>
          <a:xfrm>
            <a:off x="518251" y="2762244"/>
            <a:ext cx="5267700" cy="109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9"/>
          <p:cNvSpPr txBox="1"/>
          <p:nvPr/>
        </p:nvSpPr>
        <p:spPr>
          <a:xfrm>
            <a:off x="6440987" y="3114482"/>
            <a:ext cx="200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 sz="17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Try it live</a:t>
            </a:r>
            <a:endParaRPr b="1" sz="17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modal-ai.up.railway.app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" name="Google Shape;51;p9"/>
          <p:cNvGrpSpPr/>
          <p:nvPr/>
        </p:nvGrpSpPr>
        <p:grpSpPr>
          <a:xfrm>
            <a:off x="6301455" y="262178"/>
            <a:ext cx="2286400" cy="602094"/>
            <a:chOff x="6017629" y="288636"/>
            <a:chExt cx="2286400" cy="602094"/>
          </a:xfrm>
        </p:grpSpPr>
        <p:sp>
          <p:nvSpPr>
            <p:cNvPr id="52" name="Google Shape;52;p9"/>
            <p:cNvSpPr txBox="1"/>
            <p:nvPr/>
          </p:nvSpPr>
          <p:spPr>
            <a:xfrm>
              <a:off x="6305429" y="288636"/>
              <a:ext cx="1998600" cy="52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" sz="2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Check it out!</a:t>
              </a:r>
              <a:endParaRPr b="1" i="0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3" name="Google Shape;5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913779">
              <a:off x="6023381" y="539834"/>
              <a:ext cx="348093" cy="31123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4" name="Google Shape;5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27450"/>
            <a:ext cx="1779758" cy="16601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" name="Google Shape;55;p9"/>
          <p:cNvGrpSpPr/>
          <p:nvPr/>
        </p:nvGrpSpPr>
        <p:grpSpPr>
          <a:xfrm>
            <a:off x="518250" y="2762250"/>
            <a:ext cx="3291750" cy="2381250"/>
            <a:chOff x="-243750" y="0"/>
            <a:chExt cx="3291750" cy="2381250"/>
          </a:xfrm>
        </p:grpSpPr>
        <p:sp>
          <p:nvSpPr>
            <p:cNvPr id="56" name="Google Shape;56;p9"/>
            <p:cNvSpPr/>
            <p:nvPr/>
          </p:nvSpPr>
          <p:spPr>
            <a:xfrm>
              <a:off x="0" y="0"/>
              <a:ext cx="3048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9"/>
            <p:cNvSpPr txBox="1"/>
            <p:nvPr/>
          </p:nvSpPr>
          <p:spPr>
            <a:xfrm>
              <a:off x="-243750" y="200025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ED7D3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</a:t>
              </a:r>
              <a:r>
                <a:rPr lang="en" sz="1400">
                  <a:solidFill>
                    <a:srgbClr val="ED7D3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mail</a:t>
              </a:r>
              <a:r>
                <a:rPr lang="en" sz="1100">
                  <a:solidFill>
                    <a:srgbClr val="595959"/>
                  </a:solidFill>
                  <a:latin typeface="Roboto"/>
                  <a:ea typeface="Roboto"/>
                  <a:cs typeface="Roboto"/>
                  <a:sym typeface="Roboto"/>
                </a:rPr>
                <a:t>hv2201@nyu.edu</a:t>
              </a:r>
              <a:r>
                <a:rPr lang="en" sz="1400">
                  <a:solidFill>
                    <a:srgbClr val="ED7D3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ph</a:t>
              </a:r>
              <a:r>
                <a:rPr lang="en" sz="1400">
                  <a:solidFill>
                    <a:srgbClr val="ED7D3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one</a:t>
              </a:r>
              <a:r>
                <a:rPr lang="en" sz="1100">
                  <a:solidFill>
                    <a:srgbClr val="595959"/>
                  </a:solidFill>
                  <a:latin typeface="Roboto"/>
                  <a:ea typeface="Roboto"/>
                  <a:cs typeface="Roboto"/>
                  <a:sym typeface="Roboto"/>
                </a:rPr>
                <a:t>+1 (848) 240-7937</a:t>
              </a:r>
              <a:endParaRPr sz="11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58" name="Google Shape;58;p9" title="Hebbia-qr-sit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1250" y="864275"/>
            <a:ext cx="2381250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/>
          <p:nvPr/>
        </p:nvSpPr>
        <p:spPr>
          <a:xfrm>
            <a:off x="640080" y="0"/>
            <a:ext cx="7863900" cy="1647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0"/>
          <p:cNvSpPr txBox="1"/>
          <p:nvPr/>
        </p:nvSpPr>
        <p:spPr>
          <a:xfrm>
            <a:off x="640080" y="219456"/>
            <a:ext cx="7863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Why Mercury?</a:t>
            </a:r>
            <a:endParaRPr/>
          </a:p>
        </p:txBody>
      </p:sp>
      <p:cxnSp>
        <p:nvCxnSpPr>
          <p:cNvPr id="65" name="Google Shape;65;p10"/>
          <p:cNvCxnSpPr/>
          <p:nvPr/>
        </p:nvCxnSpPr>
        <p:spPr>
          <a:xfrm>
            <a:off x="640080" y="877824"/>
            <a:ext cx="7863900" cy="0"/>
          </a:xfrm>
          <a:prstGeom prst="straightConnector1">
            <a:avLst/>
          </a:prstGeom>
          <a:noFill/>
          <a:ln cap="flat" cmpd="sng" w="15875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6" name="Google Shape;66;p10"/>
          <p:cNvSpPr txBox="1"/>
          <p:nvPr/>
        </p:nvSpPr>
        <p:spPr>
          <a:xfrm>
            <a:off x="640055" y="1032032"/>
            <a:ext cx="7863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The reason Mercury caught my attention: a lot of my recent work is about</a:t>
            </a:r>
            <a:endParaRPr/>
          </a:p>
        </p:txBody>
      </p:sp>
      <p:sp>
        <p:nvSpPr>
          <p:cNvPr id="67" name="Google Shape;67;p10"/>
          <p:cNvSpPr txBox="1"/>
          <p:nvPr/>
        </p:nvSpPr>
        <p:spPr>
          <a:xfrm>
            <a:off x="640055" y="1336843"/>
            <a:ext cx="78639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making AI output over spend &amp; cash flow </a:t>
            </a:r>
            <a:r>
              <a:rPr b="1" i="0" lang="en" sz="2900" u="none" cap="none" strike="noStrike">
                <a:solidFill>
                  <a:srgbClr val="ED7D31"/>
                </a:solidFill>
                <a:latin typeface="Arial"/>
                <a:ea typeface="Arial"/>
                <a:cs typeface="Arial"/>
                <a:sym typeface="Arial"/>
              </a:rPr>
              <a:t>actually trustworthy.</a:t>
            </a:r>
            <a:endParaRPr sz="1300"/>
          </a:p>
        </p:txBody>
      </p:sp>
      <p:sp>
        <p:nvSpPr>
          <p:cNvPr id="68" name="Google Shape;68;p10"/>
          <p:cNvSpPr/>
          <p:nvPr/>
        </p:nvSpPr>
        <p:spPr>
          <a:xfrm>
            <a:off x="640075" y="2390037"/>
            <a:ext cx="3422700" cy="13635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0"/>
          <p:cNvSpPr/>
          <p:nvPr/>
        </p:nvSpPr>
        <p:spPr>
          <a:xfrm>
            <a:off x="914399" y="3026273"/>
            <a:ext cx="585300" cy="5853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0"/>
          <p:cNvSpPr/>
          <p:nvPr/>
        </p:nvSpPr>
        <p:spPr>
          <a:xfrm>
            <a:off x="1056131" y="3337169"/>
            <a:ext cx="54900" cy="11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1138428" y="3264017"/>
            <a:ext cx="54900" cy="19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1220723" y="3190865"/>
            <a:ext cx="54900" cy="26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1303019" y="3291449"/>
            <a:ext cx="54900" cy="16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 txBox="1"/>
          <p:nvPr/>
        </p:nvSpPr>
        <p:spPr>
          <a:xfrm>
            <a:off x="1664208" y="2715377"/>
            <a:ext cx="25878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TECHNICAL CO-FOUNDER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Causal cash-flow &amp; runway engine for CFOs</a:t>
            </a:r>
            <a:endParaRPr/>
          </a:p>
        </p:txBody>
      </p:sp>
      <p:sp>
        <p:nvSpPr>
          <p:cNvPr id="75" name="Google Shape;75;p10"/>
          <p:cNvSpPr/>
          <p:nvPr/>
        </p:nvSpPr>
        <p:spPr>
          <a:xfrm>
            <a:off x="4640575" y="2390025"/>
            <a:ext cx="3854400" cy="13635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0"/>
          <p:cNvSpPr/>
          <p:nvPr/>
        </p:nvSpPr>
        <p:spPr>
          <a:xfrm>
            <a:off x="4983480" y="3026273"/>
            <a:ext cx="585300" cy="5853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77;p10"/>
          <p:cNvCxnSpPr/>
          <p:nvPr/>
        </p:nvCxnSpPr>
        <p:spPr>
          <a:xfrm>
            <a:off x="5138928" y="3236585"/>
            <a:ext cx="100500" cy="128100"/>
          </a:xfrm>
          <a:prstGeom prst="straightConnector1">
            <a:avLst/>
          </a:prstGeom>
          <a:noFill/>
          <a:ln cap="flat" cmpd="sng" w="20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8" name="Google Shape;78;p10"/>
          <p:cNvCxnSpPr/>
          <p:nvPr/>
        </p:nvCxnSpPr>
        <p:spPr>
          <a:xfrm flipH="1">
            <a:off x="5239548" y="3200009"/>
            <a:ext cx="173700" cy="164700"/>
          </a:xfrm>
          <a:prstGeom prst="straightConnector1">
            <a:avLst/>
          </a:prstGeom>
          <a:noFill/>
          <a:ln cap="flat" cmpd="sng" w="20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9" name="Google Shape;79;p10"/>
          <p:cNvCxnSpPr/>
          <p:nvPr/>
        </p:nvCxnSpPr>
        <p:spPr>
          <a:xfrm>
            <a:off x="5239512" y="3364601"/>
            <a:ext cx="137100" cy="100500"/>
          </a:xfrm>
          <a:prstGeom prst="straightConnector1">
            <a:avLst/>
          </a:prstGeom>
          <a:noFill/>
          <a:ln cap="flat" cmpd="sng" w="20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80" name="Google Shape;80;p10"/>
          <p:cNvCxnSpPr/>
          <p:nvPr/>
        </p:nvCxnSpPr>
        <p:spPr>
          <a:xfrm flipH="1" rot="10800000">
            <a:off x="5138928" y="3199985"/>
            <a:ext cx="274200" cy="36600"/>
          </a:xfrm>
          <a:prstGeom prst="straightConnector1">
            <a:avLst/>
          </a:prstGeom>
          <a:noFill/>
          <a:ln cap="flat" cmpd="sng" w="20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1" name="Google Shape;81;p10"/>
          <p:cNvSpPr/>
          <p:nvPr/>
        </p:nvSpPr>
        <p:spPr>
          <a:xfrm>
            <a:off x="5097780" y="3195437"/>
            <a:ext cx="82200" cy="82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5372100" y="3158861"/>
            <a:ext cx="82200" cy="82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5198364" y="3323453"/>
            <a:ext cx="82200" cy="82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5335524" y="3424037"/>
            <a:ext cx="82200" cy="82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0"/>
          <p:cNvSpPr txBox="1"/>
          <p:nvPr/>
        </p:nvSpPr>
        <p:spPr>
          <a:xfrm>
            <a:off x="5733288" y="2715377"/>
            <a:ext cx="25878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DESIGNED &amp; BUILT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Agentic causal-graph engine for burn &amp; cash-runway</a:t>
            </a:r>
            <a:endParaRPr/>
          </a:p>
        </p:txBody>
      </p:sp>
      <p:grpSp>
        <p:nvGrpSpPr>
          <p:cNvPr id="86" name="Google Shape;86;p10"/>
          <p:cNvGrpSpPr/>
          <p:nvPr/>
        </p:nvGrpSpPr>
        <p:grpSpPr>
          <a:xfrm>
            <a:off x="640080" y="4052467"/>
            <a:ext cx="7863900" cy="428700"/>
            <a:chOff x="0" y="0"/>
            <a:chExt cx="7863900" cy="428700"/>
          </a:xfrm>
        </p:grpSpPr>
        <p:sp>
          <p:nvSpPr>
            <p:cNvPr id="87" name="Google Shape;87;p10"/>
            <p:cNvSpPr/>
            <p:nvPr/>
          </p:nvSpPr>
          <p:spPr>
            <a:xfrm>
              <a:off x="0" y="0"/>
              <a:ext cx="78639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0"/>
            <p:cNvSpPr txBox="1"/>
            <p:nvPr/>
          </p:nvSpPr>
          <p:spPr>
            <a:xfrm>
              <a:off x="0" y="0"/>
              <a:ext cx="7863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13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Roles I'm interested in:</a:t>
              </a:r>
              <a:endParaRPr b="1" sz="1713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8691" lvl="0" marL="457200" rtl="0" algn="l">
                <a:spcBef>
                  <a:spcPts val="375"/>
                </a:spcBef>
                <a:spcAft>
                  <a:spcPts val="0"/>
                </a:spcAft>
                <a:buSzPts val="1419"/>
                <a:buChar char="●"/>
              </a:pPr>
              <a:r>
                <a:rPr lang="en" sz="1419">
                  <a:solidFill>
                    <a:schemeClr val="dk1"/>
                  </a:solidFill>
                </a:rPr>
                <a:t>Software </a:t>
              </a:r>
              <a:r>
                <a:rPr b="0" lang="en" sz="1419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Engineer, AI &amp; Agents</a:t>
              </a:r>
              <a:r>
                <a:rPr b="0" lang="en" sz="1419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/>
              </a:r>
              <a:r>
                <a:rPr b="0" lang="en" sz="1419">
                  <a:solidFill>
                    <a:srgbClr val="ED7D31"/>
                  </a:solidFill>
                  <a:latin typeface="Arial"/>
                  <a:ea typeface="Arial"/>
                  <a:cs typeface="Arial"/>
                  <a:sym typeface="Arial"/>
                </a:rPr>
                <a:t/>
              </a:r>
              <a:endParaRPr sz="1419">
                <a:solidFill>
                  <a:srgbClr val="595959"/>
                </a:solidFill>
              </a:endParaRPr>
            </a:p>
            <a:p>
              <a:pPr indent="-318691" lvl="0" marL="457200" rtl="0" algn="l">
                <a:spcBef>
                  <a:spcPts val="0"/>
                </a:spcBef>
                <a:spcAft>
                  <a:spcPts val="0"/>
                </a:spcAft>
                <a:buSzPts val="1419"/>
                <a:buChar char="●"/>
              </a:pPr>
              <a:r>
                <a:rPr lang="en" sz="1419">
                  <a:solidFill>
                    <a:schemeClr val="dk1"/>
                  </a:solidFill>
                </a:rPr>
                <a:t>Forward Deployed Engineer</a:t>
              </a:r>
              <a:r>
                <a:rPr b="0" lang="en" sz="1419">
                  <a:solidFill>
                    <a:srgbClr val="ED7D31"/>
                  </a:solidFill>
                  <a:latin typeface="Arial"/>
                  <a:ea typeface="Arial"/>
                  <a:cs typeface="Arial"/>
                  <a:sym typeface="Arial"/>
                </a:rPr>
                <a:t/>
              </a:r>
              <a:endParaRPr b="0" sz="1419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/>
          <p:nvPr/>
        </p:nvSpPr>
        <p:spPr>
          <a:xfrm>
            <a:off x="0" y="0"/>
            <a:ext cx="9144000" cy="142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" name="Google Shape;94;p11"/>
          <p:cNvGrpSpPr/>
          <p:nvPr/>
        </p:nvGrpSpPr>
        <p:grpSpPr>
          <a:xfrm>
            <a:off x="628650" y="381000"/>
            <a:ext cx="7886700" cy="633525"/>
            <a:chOff x="0" y="0"/>
            <a:chExt cx="7886700" cy="633525"/>
          </a:xfrm>
        </p:grpSpPr>
        <p:sp>
          <p:nvSpPr>
            <p:cNvPr id="95" name="Google Shape;95;p11"/>
            <p:cNvSpPr txBox="1"/>
            <p:nvPr/>
          </p:nvSpPr>
          <p:spPr>
            <a:xfrm>
              <a:off x="0" y="0"/>
              <a:ext cx="78867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Case Study: Agentic Mercury </a:t>
              </a:r>
              <a:endParaRPr b="1" sz="32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1"/>
            <p:cNvSpPr/>
            <p:nvPr/>
          </p:nvSpPr>
          <p:spPr>
            <a:xfrm>
              <a:off x="0" y="619125"/>
              <a:ext cx="7886700" cy="144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11"/>
          <p:cNvSpPr txBox="1"/>
          <p:nvPr/>
        </p:nvSpPr>
        <p:spPr>
          <a:xfrm>
            <a:off x="572250" y="1154275"/>
            <a:ext cx="4716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Solving the Reliability Problem</a:t>
            </a:r>
            <a:endParaRPr b="1" sz="1400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 built </a:t>
            </a:r>
            <a:r>
              <a:rPr b="1" lang="en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Agentic Mercury</a:t>
            </a:r>
            <a:r>
              <a:rPr lang="en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, a financial-correctness harness for Mercury spend that scores every transaction for fraud, replays policy, and tie-out-verifies every number</a:t>
            </a:r>
            <a:r>
              <a:rPr lang="en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— so Mercury can scale autonomous finance agents without the risk of approving a fraudulent charge.</a:t>
            </a:r>
            <a:endParaRPr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r>
              <a:rPr lang="en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modal-ai.up.railway.app  </a:t>
            </a:r>
            <a:endParaRPr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" name="Google Shape;98;p11"/>
          <p:cNvGrpSpPr/>
          <p:nvPr/>
        </p:nvGrpSpPr>
        <p:grpSpPr>
          <a:xfrm>
            <a:off x="572250" y="4134600"/>
            <a:ext cx="7886700" cy="952500"/>
            <a:chOff x="0" y="-45125"/>
            <a:chExt cx="7886700" cy="952500"/>
          </a:xfrm>
        </p:grpSpPr>
        <p:sp>
          <p:nvSpPr>
            <p:cNvPr id="99" name="Google Shape;99;p11"/>
            <p:cNvSpPr/>
            <p:nvPr/>
          </p:nvSpPr>
          <p:spPr>
            <a:xfrm>
              <a:off x="0" y="-45125"/>
              <a:ext cx="7886700" cy="952500"/>
            </a:xfrm>
            <a:custGeom>
              <a:rect b="b" l="l" r="r" t="t"/>
              <a:pathLst>
                <a:path extrusionOk="0" h="120000" w="120000">
                  <a:moveTo>
                    <a:pt x="0" y="12000"/>
                  </a:moveTo>
                  <a:cubicBezTo>
                    <a:pt x="0" y="5400"/>
                    <a:pt x="652" y="0"/>
                    <a:pt x="1449" y="0"/>
                  </a:cubicBezTo>
                  <a:lnTo>
                    <a:pt x="118551" y="0"/>
                  </a:lnTo>
                  <a:cubicBezTo>
                    <a:pt x="119348" y="0"/>
                    <a:pt x="120000" y="5400"/>
                    <a:pt x="120000" y="12000"/>
                  </a:cubicBezTo>
                  <a:lnTo>
                    <a:pt x="120000" y="84000"/>
                  </a:lnTo>
                  <a:cubicBezTo>
                    <a:pt x="120000" y="90600"/>
                    <a:pt x="119348" y="96000"/>
                    <a:pt x="118551" y="96000"/>
                  </a:cubicBezTo>
                  <a:lnTo>
                    <a:pt x="4348" y="96000"/>
                  </a:lnTo>
                  <a:lnTo>
                    <a:pt x="1449" y="120000"/>
                  </a:lnTo>
                  <a:lnTo>
                    <a:pt x="1449" y="96000"/>
                  </a:lnTo>
                  <a:cubicBezTo>
                    <a:pt x="652" y="96000"/>
                    <a:pt x="0" y="90600"/>
                    <a:pt x="0" y="84000"/>
                  </a:cubicBez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C9DA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1"/>
            <p:cNvSpPr txBox="1"/>
            <p:nvPr/>
          </p:nvSpPr>
          <p:spPr>
            <a:xfrm>
              <a:off x="190500" y="142875"/>
              <a:ext cx="75057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3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By enforcing spend policy and accounting identities at the decision layer, the harness catches fraud, duplicate invoices, and policy violations before money moves — the integrity Mercury needs to let agents act on real dollars.</a:t>
              </a:r>
              <a:endParaRPr b="0" i="1" sz="13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1" name="Google Shape;10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5400" y="1154275"/>
            <a:ext cx="3714376" cy="181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" name="Google Shape;102;p11"/>
          <p:cNvGrpSpPr/>
          <p:nvPr/>
        </p:nvGrpSpPr>
        <p:grpSpPr>
          <a:xfrm>
            <a:off x="572250" y="2783925"/>
            <a:ext cx="7239000" cy="1143000"/>
            <a:chOff x="0" y="0"/>
            <a:chExt cx="7239000" cy="1143000"/>
          </a:xfrm>
        </p:grpSpPr>
        <p:grpSp>
          <p:nvGrpSpPr>
            <p:cNvPr id="103" name="Google Shape;103;p11"/>
            <p:cNvGrpSpPr/>
            <p:nvPr/>
          </p:nvGrpSpPr>
          <p:grpSpPr>
            <a:xfrm>
              <a:off x="0" y="0"/>
              <a:ext cx="2286000" cy="1143000"/>
              <a:chOff x="0" y="0"/>
              <a:chExt cx="2286000" cy="1143000"/>
            </a:xfrm>
          </p:grpSpPr>
          <p:sp>
            <p:nvSpPr>
              <p:cNvPr id="104" name="Google Shape;104;p11"/>
              <p:cNvSpPr/>
              <p:nvPr/>
            </p:nvSpPr>
            <p:spPr>
              <a:xfrm>
                <a:off x="0" y="0"/>
                <a:ext cx="2286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11"/>
              <p:cNvSpPr txBox="1"/>
              <p:nvPr/>
            </p:nvSpPr>
            <p:spPr>
              <a:xfrm>
                <a:off x="142875" y="142875"/>
                <a:ext cx="20001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Policy + Identities</a:t>
                </a:r>
                <a:endParaRPr b="1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spend within limit · books tie out</a:t>
                </a:r>
                <a:endParaRPr sz="12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22C55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✔ Enforced</a:t>
                </a:r>
                <a:endParaRPr sz="1100">
                  <a:solidFill>
                    <a:srgbClr val="22C55E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" name="Google Shape;106;p11"/>
            <p:cNvGrpSpPr/>
            <p:nvPr/>
          </p:nvGrpSpPr>
          <p:grpSpPr>
            <a:xfrm>
              <a:off x="2476500" y="0"/>
              <a:ext cx="2286000" cy="1143000"/>
              <a:chOff x="0" y="0"/>
              <a:chExt cx="2286000" cy="1143000"/>
            </a:xfrm>
          </p:grpSpPr>
          <p:sp>
            <p:nvSpPr>
              <p:cNvPr id="107" name="Google Shape;107;p11"/>
              <p:cNvSpPr/>
              <p:nvPr/>
            </p:nvSpPr>
            <p:spPr>
              <a:xfrm>
                <a:off x="0" y="0"/>
                <a:ext cx="2286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1"/>
              <p:cNvSpPr txBox="1"/>
              <p:nvPr/>
            </p:nvSpPr>
            <p:spPr>
              <a:xfrm>
                <a:off x="142875" y="142875"/>
                <a:ext cx="20001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Structural Checks</a:t>
                </a:r>
                <a:endParaRPr b="1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Three-way match · duplicate &amp; bank-change detection</a:t>
                </a:r>
                <a:endParaRPr sz="12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" name="Google Shape;109;p11"/>
            <p:cNvGrpSpPr/>
            <p:nvPr/>
          </p:nvGrpSpPr>
          <p:grpSpPr>
            <a:xfrm>
              <a:off x="4953000" y="0"/>
              <a:ext cx="2286000" cy="1143000"/>
              <a:chOff x="0" y="0"/>
              <a:chExt cx="2286000" cy="1143000"/>
            </a:xfrm>
          </p:grpSpPr>
          <p:sp>
            <p:nvSpPr>
              <p:cNvPr id="110" name="Google Shape;110;p11"/>
              <p:cNvSpPr/>
              <p:nvPr/>
            </p:nvSpPr>
            <p:spPr>
              <a:xfrm>
                <a:off x="0" y="0"/>
                <a:ext cx="2286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1"/>
              <p:cNvSpPr txBox="1"/>
              <p:nvPr/>
            </p:nvSpPr>
            <p:spPr>
              <a:xfrm>
                <a:off x="142875" y="142875"/>
                <a:ext cx="20001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Testing Grounds</a:t>
                </a:r>
                <a:endParaRPr b="1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Calibrated Mercury tenant · fraud ROC-AUC 0.89+</a:t>
                </a:r>
                <a:endParaRPr sz="12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"/>
          <p:cNvSpPr/>
          <p:nvPr/>
        </p:nvSpPr>
        <p:spPr>
          <a:xfrm>
            <a:off x="640080" y="0"/>
            <a:ext cx="7863840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2"/>
          <p:cNvSpPr txBox="1"/>
          <p:nvPr/>
        </p:nvSpPr>
        <p:spPr>
          <a:xfrm>
            <a:off x="640080" y="219456"/>
            <a:ext cx="78638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Card + Cash + ERP: exactly how they connect</a:t>
            </a:r>
            <a:endParaRPr/>
          </a:p>
        </p:txBody>
      </p:sp>
      <p:cxnSp>
        <p:nvCxnSpPr>
          <p:cNvPr id="118" name="Google Shape;118;p12"/>
          <p:cNvCxnSpPr/>
          <p:nvPr/>
        </p:nvCxnSpPr>
        <p:spPr>
          <a:xfrm>
            <a:off x="640080" y="896112"/>
            <a:ext cx="7863840" cy="0"/>
          </a:xfrm>
          <a:prstGeom prst="straightConnector1">
            <a:avLst/>
          </a:prstGeom>
          <a:noFill/>
          <a:ln cap="flat" cmpd="sng" w="15875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19" name="Google Shape;119;p12"/>
          <p:cNvSpPr txBox="1"/>
          <p:nvPr/>
        </p:nvSpPr>
        <p:spPr>
          <a:xfrm>
            <a:off x="640080" y="941832"/>
            <a:ext cx="7863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Mercury Assistant’s real job is unifying card spend, cash, and the GL into one ledger — checked by the same engine.</a:t>
            </a:r>
            <a:endParaRPr/>
          </a:p>
        </p:txBody>
      </p:sp>
      <p:sp>
        <p:nvSpPr>
          <p:cNvPr id="120" name="Google Shape;120;p12"/>
          <p:cNvSpPr/>
          <p:nvPr/>
        </p:nvSpPr>
        <p:spPr>
          <a:xfrm>
            <a:off x="640080" y="1335024"/>
            <a:ext cx="2240280" cy="5486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2"/>
          <p:cNvSpPr txBox="1"/>
          <p:nvPr/>
        </p:nvSpPr>
        <p:spPr>
          <a:xfrm>
            <a:off x="749808" y="1408176"/>
            <a:ext cx="2020824" cy="4023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📄  Books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GL · ERP (NetSuite)</a:t>
            </a:r>
            <a:endParaRPr/>
          </a:p>
        </p:txBody>
      </p:sp>
      <p:sp>
        <p:nvSpPr>
          <p:cNvPr id="122" name="Google Shape;122;p12"/>
          <p:cNvSpPr/>
          <p:nvPr/>
        </p:nvSpPr>
        <p:spPr>
          <a:xfrm>
            <a:off x="640080" y="1956816"/>
            <a:ext cx="2240280" cy="5486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2"/>
          <p:cNvSpPr txBox="1"/>
          <p:nvPr/>
        </p:nvSpPr>
        <p:spPr>
          <a:xfrm>
            <a:off x="749808" y="2029968"/>
            <a:ext cx="2020824" cy="4023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🗄  Mercury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Card · Mercury Treasury · AP</a:t>
            </a:r>
            <a:endParaRPr/>
          </a:p>
        </p:txBody>
      </p:sp>
      <p:sp>
        <p:nvSpPr>
          <p:cNvPr id="124" name="Google Shape;124;p12"/>
          <p:cNvSpPr/>
          <p:nvPr/>
        </p:nvSpPr>
        <p:spPr>
          <a:xfrm>
            <a:off x="2999232" y="1783080"/>
            <a:ext cx="50292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BD2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2"/>
          <p:cNvSpPr/>
          <p:nvPr/>
        </p:nvSpPr>
        <p:spPr>
          <a:xfrm>
            <a:off x="3611880" y="1440180"/>
            <a:ext cx="2331720" cy="960120"/>
          </a:xfrm>
          <a:prstGeom prst="roundRect">
            <a:avLst>
              <a:gd fmla="val 10000" name="adj"/>
            </a:avLst>
          </a:prstGeom>
          <a:solidFill>
            <a:srgbClr val="FCEFE3"/>
          </a:solidFill>
          <a:ln cap="flat" cmpd="sng" w="1270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2"/>
          <p:cNvSpPr txBox="1"/>
          <p:nvPr/>
        </p:nvSpPr>
        <p:spPr>
          <a:xfrm>
            <a:off x="3721583" y="1595082"/>
            <a:ext cx="21123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rPr>
              <a:t>Agentic Mercury</a:t>
            </a:r>
            <a:r>
              <a:rPr b="1" i="0" lang="en" sz="1300" u="none" cap="none" strike="noStrike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rPr>
              <a:t> engine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scores every txn · replays policy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reconcile to the GL?</a:t>
            </a:r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6053328" y="1792224"/>
            <a:ext cx="50292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BD2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6656832" y="1554480"/>
            <a:ext cx="1847088" cy="777240"/>
          </a:xfrm>
          <a:prstGeom prst="roundRect">
            <a:avLst>
              <a:gd fmla="val 10000" name="adj"/>
            </a:avLst>
          </a:prstGeom>
          <a:solidFill>
            <a:srgbClr val="E7F6EC"/>
          </a:solidFill>
          <a:ln cap="flat" cmpd="sng" w="12700">
            <a:solidFill>
              <a:srgbClr val="BFE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2"/>
          <p:cNvSpPr txBox="1"/>
          <p:nvPr/>
        </p:nvSpPr>
        <p:spPr>
          <a:xfrm>
            <a:off x="6766560" y="1627632"/>
            <a:ext cx="1627632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 Verified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close-ready &amp; audit-ready</a:t>
            </a:r>
            <a:endParaRPr/>
          </a:p>
        </p:txBody>
      </p:sp>
      <p:sp>
        <p:nvSpPr>
          <p:cNvPr id="130" name="Google Shape;130;p12"/>
          <p:cNvSpPr txBox="1"/>
          <p:nvPr/>
        </p:nvSpPr>
        <p:spPr>
          <a:xfrm>
            <a:off x="640080" y="2578608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synthetic Mercury tenant is calibrated to realistic spend — fraud, policy, and tie-out all proven on it. “Calibrated demo data.”</a:t>
            </a:r>
            <a:endParaRPr/>
          </a:p>
        </p:txBody>
      </p:sp>
      <p:sp>
        <p:nvSpPr>
          <p:cNvPr id="131" name="Google Shape;131;p12"/>
          <p:cNvSpPr/>
          <p:nvPr/>
        </p:nvSpPr>
        <p:spPr>
          <a:xfrm>
            <a:off x="640080" y="2907792"/>
            <a:ext cx="3840480" cy="14630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2"/>
          <p:cNvSpPr txBox="1"/>
          <p:nvPr/>
        </p:nvSpPr>
        <p:spPr>
          <a:xfrm>
            <a:off x="822959" y="303580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5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Card + AP unlocks</a:t>
            </a:r>
            <a:endParaRPr/>
          </a:p>
        </p:txBody>
      </p:sp>
      <p:sp>
        <p:nvSpPr>
          <p:cNvPr id="133" name="Google Shape;133;p12"/>
          <p:cNvSpPr txBox="1"/>
          <p:nvPr/>
        </p:nvSpPr>
        <p:spPr>
          <a:xfrm>
            <a:off x="822959" y="3364992"/>
            <a:ext cx="34747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Fraud rings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shared-card collusion the static rules miss.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Policy leakage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replay a new policy over history, see the $ impact.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Duplicate &amp; bank-change AP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stopped before Bill Pay sends a cent.</a:t>
            </a:r>
            <a:endParaRPr/>
          </a:p>
        </p:txBody>
      </p:sp>
      <p:sp>
        <p:nvSpPr>
          <p:cNvPr id="134" name="Google Shape;134;p12"/>
          <p:cNvSpPr/>
          <p:nvPr/>
        </p:nvSpPr>
        <p:spPr>
          <a:xfrm>
            <a:off x="4663440" y="2907792"/>
            <a:ext cx="3840480" cy="14630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4846320" y="303580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5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Cash + Credit unlocks</a:t>
            </a:r>
            <a:endParaRPr/>
          </a:p>
        </p:txBody>
      </p:sp>
      <p:sp>
        <p:nvSpPr>
          <p:cNvPr id="136" name="Google Shape;136;p12"/>
          <p:cNvSpPr txBox="1"/>
          <p:nvPr/>
        </p:nvSpPr>
        <p:spPr>
          <a:xfrm>
            <a:off x="4846320" y="3364992"/>
            <a:ext cx="34747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Causal runway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do-operator what-ifs, not a re-plotted trend.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Idle-cash yield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the Mercury Treasury sweep opportunity, quantified.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Underwriting &amp; limits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a PD model recommends the credit line.</a:t>
            </a:r>
            <a:endParaRPr/>
          </a:p>
        </p:txBody>
      </p:sp>
      <p:sp>
        <p:nvSpPr>
          <p:cNvPr id="137" name="Google Shape;137;p12"/>
          <p:cNvSpPr/>
          <p:nvPr/>
        </p:nvSpPr>
        <p:spPr>
          <a:xfrm>
            <a:off x="640080" y="4535424"/>
            <a:ext cx="7863840" cy="384048"/>
          </a:xfrm>
          <a:prstGeom prst="roundRect">
            <a:avLst>
              <a:gd fmla="val 50000" name="adj"/>
            </a:avLst>
          </a:prstGeom>
          <a:solidFill>
            <a:srgbClr val="FCEF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2"/>
          <p:cNvSpPr txBox="1"/>
          <p:nvPr/>
        </p:nvSpPr>
        <p:spPr>
          <a:xfrm>
            <a:off x="868680" y="4535424"/>
            <a:ext cx="7406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 u="none" cap="none" strike="noStrike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rPr>
              <a:t>The same engine that scores a charge proves the books tie out to it —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trust layer that lets Mercury Assistant act on real spend.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630936" y="76462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628650" y="238125"/>
            <a:ext cx="78771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Experience </a:t>
            </a:r>
            <a:r>
              <a:rPr b="1" lang="en" sz="3200">
                <a:latin typeface="Calibri"/>
                <a:ea typeface="Calibri"/>
                <a:cs typeface="Calibri"/>
                <a:sym typeface="Calibri"/>
              </a:rPr>
              <a:t>Time</a:t>
            </a:r>
            <a:endParaRPr b="1"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6" name="Google Shape;146;p13"/>
          <p:cNvGrpSpPr/>
          <p:nvPr/>
        </p:nvGrpSpPr>
        <p:grpSpPr>
          <a:xfrm>
            <a:off x="628650" y="952500"/>
            <a:ext cx="4762500" cy="1143000"/>
            <a:chOff x="0" y="0"/>
            <a:chExt cx="4762500" cy="1143000"/>
          </a:xfrm>
        </p:grpSpPr>
        <p:sp>
          <p:nvSpPr>
            <p:cNvPr id="147" name="Google Shape;147;p13"/>
            <p:cNvSpPr/>
            <p:nvPr/>
          </p:nvSpPr>
          <p:spPr>
            <a:xfrm>
              <a:off x="0" y="0"/>
              <a:ext cx="4762500" cy="1143000"/>
            </a:xfrm>
            <a:prstGeom prst="roundRect">
              <a:avLst>
                <a:gd fmla="val 125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3"/>
            <p:cNvSpPr txBox="1"/>
            <p:nvPr/>
          </p:nvSpPr>
          <p:spPr>
            <a:xfrm>
              <a:off x="0" y="0"/>
              <a:ext cx="4762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Machine Learning Intern | Capgemini</a:t>
              </a:r>
              <a:endParaRPr b="1" sz="16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Feb 2026 – May 2026 | New York, USA</a:t>
              </a:r>
              <a:endParaRPr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Deployed modular LSTM-Attention Autoencoder on edge devices to predict hardware degradation.</a:t>
              </a:r>
              <a:endParaRPr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13"/>
          <p:cNvGrpSpPr/>
          <p:nvPr/>
        </p:nvGrpSpPr>
        <p:grpSpPr>
          <a:xfrm>
            <a:off x="628650" y="2286000"/>
            <a:ext cx="4762500" cy="1143000"/>
            <a:chOff x="0" y="0"/>
            <a:chExt cx="4762500" cy="1143000"/>
          </a:xfrm>
        </p:grpSpPr>
        <p:sp>
          <p:nvSpPr>
            <p:cNvPr id="150" name="Google Shape;150;p13"/>
            <p:cNvSpPr/>
            <p:nvPr/>
          </p:nvSpPr>
          <p:spPr>
            <a:xfrm>
              <a:off x="0" y="0"/>
              <a:ext cx="4762500" cy="1143000"/>
            </a:xfrm>
            <a:prstGeom prst="roundRect">
              <a:avLst>
                <a:gd fmla="val 125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3"/>
            <p:cNvSpPr txBox="1"/>
            <p:nvPr/>
          </p:nvSpPr>
          <p:spPr>
            <a:xfrm>
              <a:off x="0" y="0"/>
              <a:ext cx="4762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Graduate Research Assistant | NYU VIDA Lab</a:t>
              </a:r>
              <a:endParaRPr b="1" sz="16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Mar 2025 – May 2026 | Brooklyn, USA</a:t>
              </a:r>
              <a:endParaRPr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Architected HRNet-based pose estimation pipeline for pedestrian behavior research achieving 95% accuracy.</a:t>
              </a:r>
              <a:endParaRPr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13"/>
          <p:cNvGrpSpPr/>
          <p:nvPr/>
        </p:nvGrpSpPr>
        <p:grpSpPr>
          <a:xfrm>
            <a:off x="628650" y="3619500"/>
            <a:ext cx="4762500" cy="1143000"/>
            <a:chOff x="0" y="0"/>
            <a:chExt cx="4762500" cy="1143000"/>
          </a:xfrm>
        </p:grpSpPr>
        <p:sp>
          <p:nvSpPr>
            <p:cNvPr id="153" name="Google Shape;153;p13"/>
            <p:cNvSpPr/>
            <p:nvPr/>
          </p:nvSpPr>
          <p:spPr>
            <a:xfrm>
              <a:off x="0" y="0"/>
              <a:ext cx="4762500" cy="1143000"/>
            </a:xfrm>
            <a:prstGeom prst="roundRect">
              <a:avLst>
                <a:gd fmla="val 125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3"/>
            <p:cNvSpPr txBox="1"/>
            <p:nvPr/>
          </p:nvSpPr>
          <p:spPr>
            <a:xfrm>
              <a:off x="0" y="0"/>
              <a:ext cx="4762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Software Engineer Intern | Sycamore</a:t>
              </a:r>
              <a:endParaRPr b="1" sz="16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Jun 2025 – Aug 2025 | Massachusetts, USA</a:t>
              </a:r>
              <a:endParaRPr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Designed Full-Stack engine using React.js UI and PostgreSQL for modular stateful trees and interactive monaco editor.</a:t>
              </a:r>
              <a:endParaRPr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5" name="Google Shape;155;p13"/>
          <p:cNvGrpSpPr/>
          <p:nvPr/>
        </p:nvGrpSpPr>
        <p:grpSpPr>
          <a:xfrm>
            <a:off x="628650" y="4838700"/>
            <a:ext cx="7877100" cy="238200"/>
            <a:chOff x="0" y="0"/>
            <a:chExt cx="7877100" cy="238200"/>
          </a:xfrm>
        </p:grpSpPr>
        <p:sp>
          <p:nvSpPr>
            <p:cNvPr id="156" name="Google Shape;156;p13"/>
            <p:cNvSpPr/>
            <p:nvPr/>
          </p:nvSpPr>
          <p:spPr>
            <a:xfrm>
              <a:off x="0" y="0"/>
              <a:ext cx="7877100" cy="238200"/>
            </a:xfrm>
            <a:prstGeom prst="roundRect">
              <a:avLst>
                <a:gd fmla="val 20000" name="adj"/>
              </a:avLst>
            </a:prstGeom>
            <a:solidFill>
              <a:srgbClr val="D9D2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3"/>
            <p:cNvSpPr txBox="1"/>
            <p:nvPr/>
          </p:nvSpPr>
          <p:spPr>
            <a:xfrm>
              <a:off x="0" y="0"/>
              <a:ext cx="7877100" cy="238200"/>
            </a:xfrm>
            <a:prstGeom prst="rect">
              <a:avLst/>
            </a:prstGeom>
            <a:solidFill>
              <a:srgbClr val="D9D2E9"/>
            </a:solidFill>
            <a:ln>
              <a:noFill/>
            </a:ln>
          </p:spPr>
          <p:txBody>
            <a:bodyPr anchorCtr="0" anchor="ctr" bIns="0" lIns="95250" spcFirstLastPara="1" rIns="9525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Skills:</a:t>
              </a:r>
              <a:r>
                <a:rPr lang="en" sz="12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Python, Java, React.js, Node.js, SQL, TensorFlow, PyTorch, Kubernetes, Docker, AWS (EC2), ETL, Generative AI</a:t>
              </a:r>
              <a:endParaRPr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" name="Google Shape;158;p13"/>
          <p:cNvGrpSpPr/>
          <p:nvPr/>
        </p:nvGrpSpPr>
        <p:grpSpPr>
          <a:xfrm>
            <a:off x="5524500" y="809625"/>
            <a:ext cx="3298546" cy="1047900"/>
            <a:chOff x="0" y="0"/>
            <a:chExt cx="3048000" cy="1047900"/>
          </a:xfrm>
        </p:grpSpPr>
        <p:sp>
          <p:nvSpPr>
            <p:cNvPr id="159" name="Google Shape;159;p13"/>
            <p:cNvSpPr/>
            <p:nvPr/>
          </p:nvSpPr>
          <p:spPr>
            <a:xfrm>
              <a:off x="0" y="0"/>
              <a:ext cx="3048000" cy="1047900"/>
            </a:xfrm>
            <a:custGeom>
              <a:rect b="b" l="l" r="r" t="t"/>
              <a:pathLst>
                <a:path extrusionOk="0" h="120000" w="120000">
                  <a:moveTo>
                    <a:pt x="0" y="21818"/>
                  </a:moveTo>
                  <a:quadBezTo>
                    <a:pt x="0" y="0"/>
                    <a:pt x="7500" y="0"/>
                  </a:quadBezTo>
                  <a:lnTo>
                    <a:pt x="112500" y="0"/>
                  </a:lnTo>
                  <a:quadBezTo>
                    <a:pt x="120000" y="0"/>
                    <a:pt x="120000" y="21818"/>
                  </a:quadBezTo>
                  <a:lnTo>
                    <a:pt x="120000" y="65455"/>
                  </a:lnTo>
                  <a:quadBezTo>
                    <a:pt x="120000" y="87273"/>
                    <a:pt x="112500" y="87273"/>
                  </a:quadBezTo>
                  <a:lnTo>
                    <a:pt x="15000" y="87273"/>
                  </a:lnTo>
                  <a:lnTo>
                    <a:pt x="3750" y="120000"/>
                  </a:lnTo>
                  <a:lnTo>
                    <a:pt x="3750" y="87273"/>
                  </a:lnTo>
                  <a:quadBezTo>
                    <a:pt x="0" y="87273"/>
                    <a:pt x="0" y="65455"/>
                  </a:quadBez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FDBA7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3"/>
            <p:cNvSpPr txBox="1"/>
            <p:nvPr/>
          </p:nvSpPr>
          <p:spPr>
            <a:xfrm>
              <a:off x="142875" y="95250"/>
              <a:ext cx="27624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5-STAGE PIPELINE</a:t>
              </a:r>
              <a:endParaRPr b="1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windowing → LSTM auto-encoder → temporal attention → reconstruction-error scoring → alerting</a:t>
              </a:r>
              <a:endParaRPr b="0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13"/>
          <p:cNvGrpSpPr/>
          <p:nvPr/>
        </p:nvGrpSpPr>
        <p:grpSpPr>
          <a:xfrm>
            <a:off x="5524500" y="2143125"/>
            <a:ext cx="3298546" cy="1047900"/>
            <a:chOff x="0" y="0"/>
            <a:chExt cx="3048000" cy="1047900"/>
          </a:xfrm>
        </p:grpSpPr>
        <p:sp>
          <p:nvSpPr>
            <p:cNvPr id="162" name="Google Shape;162;p13"/>
            <p:cNvSpPr/>
            <p:nvPr/>
          </p:nvSpPr>
          <p:spPr>
            <a:xfrm>
              <a:off x="0" y="0"/>
              <a:ext cx="3048000" cy="1047900"/>
            </a:xfrm>
            <a:custGeom>
              <a:rect b="b" l="l" r="r" t="t"/>
              <a:pathLst>
                <a:path extrusionOk="0" h="120000" w="120000">
                  <a:moveTo>
                    <a:pt x="0" y="21818"/>
                  </a:moveTo>
                  <a:quadBezTo>
                    <a:pt x="0" y="0"/>
                    <a:pt x="7500" y="0"/>
                  </a:quadBezTo>
                  <a:lnTo>
                    <a:pt x="112500" y="0"/>
                  </a:lnTo>
                  <a:quadBezTo>
                    <a:pt x="120000" y="0"/>
                    <a:pt x="120000" y="21818"/>
                  </a:quadBezTo>
                  <a:lnTo>
                    <a:pt x="120000" y="65455"/>
                  </a:lnTo>
                  <a:quadBezTo>
                    <a:pt x="120000" y="87273"/>
                    <a:pt x="112500" y="87273"/>
                  </a:quadBezTo>
                  <a:lnTo>
                    <a:pt x="15000" y="87273"/>
                  </a:lnTo>
                  <a:lnTo>
                    <a:pt x="3750" y="120000"/>
                  </a:lnTo>
                  <a:lnTo>
                    <a:pt x="3750" y="87273"/>
                  </a:lnTo>
                  <a:quadBezTo>
                    <a:pt x="0" y="87273"/>
                    <a:pt x="0" y="65455"/>
                  </a:quadBez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FDBA7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3"/>
            <p:cNvSpPr txBox="1"/>
            <p:nvPr/>
          </p:nvSpPr>
          <p:spPr>
            <a:xfrm>
              <a:off x="142875" y="95250"/>
              <a:ext cx="27624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PIPELINE</a:t>
              </a:r>
              <a:endParaRPr b="1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person detection → HRNet keypoint regression → multi-object tracking → behavior features</a:t>
              </a:r>
              <a:endParaRPr b="0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p13"/>
          <p:cNvGrpSpPr/>
          <p:nvPr/>
        </p:nvGrpSpPr>
        <p:grpSpPr>
          <a:xfrm>
            <a:off x="5524500" y="3476625"/>
            <a:ext cx="3298546" cy="1047900"/>
            <a:chOff x="0" y="0"/>
            <a:chExt cx="3048000" cy="1047900"/>
          </a:xfrm>
        </p:grpSpPr>
        <p:sp>
          <p:nvSpPr>
            <p:cNvPr id="165" name="Google Shape;165;p13"/>
            <p:cNvSpPr/>
            <p:nvPr/>
          </p:nvSpPr>
          <p:spPr>
            <a:xfrm>
              <a:off x="0" y="0"/>
              <a:ext cx="3048000" cy="1047900"/>
            </a:xfrm>
            <a:custGeom>
              <a:rect b="b" l="l" r="r" t="t"/>
              <a:pathLst>
                <a:path extrusionOk="0" h="120000" w="120000">
                  <a:moveTo>
                    <a:pt x="0" y="21818"/>
                  </a:moveTo>
                  <a:quadBezTo>
                    <a:pt x="0" y="0"/>
                    <a:pt x="7500" y="0"/>
                  </a:quadBezTo>
                  <a:lnTo>
                    <a:pt x="112500" y="0"/>
                  </a:lnTo>
                  <a:quadBezTo>
                    <a:pt x="120000" y="0"/>
                    <a:pt x="120000" y="21818"/>
                  </a:quadBezTo>
                  <a:lnTo>
                    <a:pt x="120000" y="65455"/>
                  </a:lnTo>
                  <a:quadBezTo>
                    <a:pt x="120000" y="87273"/>
                    <a:pt x="112500" y="87273"/>
                  </a:quadBezTo>
                  <a:lnTo>
                    <a:pt x="15000" y="87273"/>
                  </a:lnTo>
                  <a:lnTo>
                    <a:pt x="3750" y="120000"/>
                  </a:lnTo>
                  <a:lnTo>
                    <a:pt x="3750" y="87273"/>
                  </a:lnTo>
                  <a:quadBezTo>
                    <a:pt x="0" y="87273"/>
                    <a:pt x="0" y="65455"/>
                  </a:quadBez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FDBA7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3"/>
            <p:cNvSpPr txBox="1"/>
            <p:nvPr/>
          </p:nvSpPr>
          <p:spPr>
            <a:xfrm>
              <a:off x="142875" y="95250"/>
              <a:ext cx="27624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STACK &amp; DESIGN</a:t>
              </a:r>
              <a:endParaRPr b="1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recursive React tree editor · typed Node REST APIs · normalized PostgreSQL for versioned tree state</a:t>
              </a:r>
              <a:endParaRPr b="0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4"/>
          <p:cNvSpPr/>
          <p:nvPr/>
        </p:nvSpPr>
        <p:spPr>
          <a:xfrm>
            <a:off x="630936" y="764629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4"/>
          <p:cNvSpPr txBox="1"/>
          <p:nvPr/>
        </p:nvSpPr>
        <p:spPr>
          <a:xfrm>
            <a:off x="571500" y="142875"/>
            <a:ext cx="7620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Ex-</a:t>
            </a:r>
            <a:r>
              <a:rPr b="1" lang="en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Founder Story: Grapher Labs</a:t>
            </a:r>
            <a:endParaRPr b="1" sz="3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4"/>
          <p:cNvSpPr txBox="1"/>
          <p:nvPr/>
        </p:nvSpPr>
        <p:spPr>
          <a:xfrm>
            <a:off x="628650" y="809625"/>
            <a:ext cx="7944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Causal cash-flow &amp; runway simulation engine for CFOs. Completed customer discovery calls and </a:t>
            </a:r>
            <a:r>
              <a:rPr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evaluated product market fit. Selected and completed NYU Leslie Accelerator program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| </a:t>
            </a:r>
            <a:r>
              <a:rPr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September 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2025 — </a:t>
            </a:r>
            <a:r>
              <a:rPr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May 2026</a:t>
            </a:r>
            <a:endParaRPr b="0" sz="111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" name="Google Shape;175;p14"/>
          <p:cNvGrpSpPr/>
          <p:nvPr/>
        </p:nvGrpSpPr>
        <p:grpSpPr>
          <a:xfrm>
            <a:off x="571500" y="1333500"/>
            <a:ext cx="2000100" cy="952500"/>
            <a:chOff x="0" y="0"/>
            <a:chExt cx="2000100" cy="952500"/>
          </a:xfrm>
        </p:grpSpPr>
        <p:sp>
          <p:nvSpPr>
            <p:cNvPr id="176" name="Google Shape;176;p14"/>
            <p:cNvSpPr/>
            <p:nvPr/>
          </p:nvSpPr>
          <p:spPr>
            <a:xfrm>
              <a:off x="0" y="0"/>
              <a:ext cx="20001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4"/>
            <p:cNvSpPr txBox="1"/>
            <p:nvPr/>
          </p:nvSpPr>
          <p:spPr>
            <a:xfrm>
              <a:off x="0" y="0"/>
              <a:ext cx="20001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151</a:t>
              </a:r>
              <a:endParaRPr b="1" sz="28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Customer Discovery Calls</a:t>
              </a:r>
              <a:endParaRPr b="0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14"/>
          <p:cNvGrpSpPr/>
          <p:nvPr/>
        </p:nvGrpSpPr>
        <p:grpSpPr>
          <a:xfrm>
            <a:off x="2667000" y="1333500"/>
            <a:ext cx="2000100" cy="952500"/>
            <a:chOff x="0" y="0"/>
            <a:chExt cx="2000100" cy="952500"/>
          </a:xfrm>
        </p:grpSpPr>
        <p:sp>
          <p:nvSpPr>
            <p:cNvPr id="179" name="Google Shape;179;p14"/>
            <p:cNvSpPr/>
            <p:nvPr/>
          </p:nvSpPr>
          <p:spPr>
            <a:xfrm>
              <a:off x="0" y="0"/>
              <a:ext cx="20001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4"/>
            <p:cNvSpPr txBox="1"/>
            <p:nvPr/>
          </p:nvSpPr>
          <p:spPr>
            <a:xfrm>
              <a:off x="0" y="0"/>
              <a:ext cx="20001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sz="28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Letters of Intent(LOIs) Signed</a:t>
              </a:r>
              <a:endParaRPr b="0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14"/>
          <p:cNvGrpSpPr/>
          <p:nvPr/>
        </p:nvGrpSpPr>
        <p:grpSpPr>
          <a:xfrm>
            <a:off x="4762500" y="1333500"/>
            <a:ext cx="2000100" cy="952500"/>
            <a:chOff x="0" y="0"/>
            <a:chExt cx="2000100" cy="952500"/>
          </a:xfrm>
        </p:grpSpPr>
        <p:sp>
          <p:nvSpPr>
            <p:cNvPr id="182" name="Google Shape;182;p14"/>
            <p:cNvSpPr/>
            <p:nvPr/>
          </p:nvSpPr>
          <p:spPr>
            <a:xfrm>
              <a:off x="0" y="0"/>
              <a:ext cx="20001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4"/>
            <p:cNvSpPr txBox="1"/>
            <p:nvPr/>
          </p:nvSpPr>
          <p:spPr>
            <a:xfrm>
              <a:off x="0" y="0"/>
              <a:ext cx="20001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1" sz="28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 Pilots </a:t>
              </a:r>
              <a:r>
                <a:rPr lang="en" sz="10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Tested</a:t>
              </a:r>
              <a:endParaRPr b="0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14"/>
          <p:cNvGrpSpPr/>
          <p:nvPr/>
        </p:nvGrpSpPr>
        <p:grpSpPr>
          <a:xfrm>
            <a:off x="6858000" y="1333500"/>
            <a:ext cx="1714500" cy="952500"/>
            <a:chOff x="0" y="0"/>
            <a:chExt cx="1714500" cy="952500"/>
          </a:xfrm>
        </p:grpSpPr>
        <p:sp>
          <p:nvSpPr>
            <p:cNvPr id="185" name="Google Shape;185;p14"/>
            <p:cNvSpPr/>
            <p:nvPr/>
          </p:nvSpPr>
          <p:spPr>
            <a:xfrm>
              <a:off x="0" y="0"/>
              <a:ext cx="17145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 txBox="1"/>
            <p:nvPr/>
          </p:nvSpPr>
          <p:spPr>
            <a:xfrm>
              <a:off x="0" y="0"/>
              <a:ext cx="1714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sz="28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Networking Event Hosted</a:t>
              </a:r>
              <a:endParaRPr b="0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14"/>
          <p:cNvSpPr txBox="1"/>
          <p:nvPr/>
        </p:nvSpPr>
        <p:spPr>
          <a:xfrm>
            <a:off x="571500" y="2476500"/>
            <a:ext cx="3810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95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Key Milestones &amp; Learning</a:t>
            </a:r>
            <a:endParaRPr b="1" sz="1295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spcBef>
                <a:spcPts val="750"/>
              </a:spcBef>
              <a:spcAft>
                <a:spcPts val="0"/>
              </a:spcAft>
              <a:buSzPts val="1295"/>
              <a:buChar char="●"/>
            </a:pPr>
            <a:r>
              <a:rPr b="1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Built &amp; shipped MVP: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Architected the core cash-flow engine.</a:t>
            </a:r>
            <a:endParaRPr b="0" sz="111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SzPts val="1295"/>
              <a:buChar char="●"/>
            </a:pPr>
            <a:r>
              <a:rPr b="1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Talked to real buyers: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Direct feedback from CFO</a:t>
            </a:r>
            <a:r>
              <a:rPr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 and 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VPs of Finance.</a:t>
            </a:r>
            <a:endParaRPr b="0" sz="111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SzPts val="1295"/>
              <a:buChar char="●"/>
            </a:pPr>
            <a:r>
              <a:rPr b="1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Learned to sell: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From discovery to closing design partners.</a:t>
            </a:r>
            <a:endParaRPr b="0" sz="111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SzPts val="1295"/>
              <a:buChar char="●"/>
            </a:pPr>
            <a:r>
              <a:rPr b="1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Navigated the hard parts: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Managing pilots and design iteration.</a:t>
            </a:r>
            <a:endParaRPr b="0" sz="111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8" name="Google Shape;188;p14"/>
          <p:cNvGrpSpPr/>
          <p:nvPr/>
        </p:nvGrpSpPr>
        <p:grpSpPr>
          <a:xfrm>
            <a:off x="575251" y="4516349"/>
            <a:ext cx="1829700" cy="341627"/>
            <a:chOff x="590290" y="-239250"/>
            <a:chExt cx="1829700" cy="477600"/>
          </a:xfrm>
        </p:grpSpPr>
        <p:sp>
          <p:nvSpPr>
            <p:cNvPr id="189" name="Google Shape;189;p14"/>
            <p:cNvSpPr/>
            <p:nvPr/>
          </p:nvSpPr>
          <p:spPr>
            <a:xfrm>
              <a:off x="590290" y="-239250"/>
              <a:ext cx="1829700" cy="477600"/>
            </a:xfrm>
            <a:prstGeom prst="roundRect">
              <a:avLst>
                <a:gd fmla="val 50000" name="adj"/>
              </a:avLst>
            </a:prstGeom>
            <a:solidFill>
              <a:srgbClr val="ED7D3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 txBox="1"/>
            <p:nvPr/>
          </p:nvSpPr>
          <p:spPr>
            <a:xfrm>
              <a:off x="701415" y="-191401"/>
              <a:ext cx="1650900" cy="38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Link: </a:t>
              </a:r>
              <a:r>
                <a:rPr b="1" lang="en" sz="1300" u="sng">
                  <a:solidFill>
                    <a:schemeClr val="hlink"/>
                  </a:solidFill>
                  <a:latin typeface="Calibri"/>
                  <a:ea typeface="Calibri"/>
                  <a:cs typeface="Calibri"/>
                  <a:sym typeface="Calibri"/>
                  <a:hlinkClick r:id="rId3"/>
                </a:rPr>
                <a:t>GrapherLabs.com</a:t>
              </a:r>
              <a:endParaRPr b="1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91" name="Google Shape;19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8650" y="2422475"/>
            <a:ext cx="4466977" cy="2279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5"/>
          <p:cNvSpPr/>
          <p:nvPr/>
        </p:nvSpPr>
        <p:spPr>
          <a:xfrm>
            <a:off x="630936" y="76462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15"/>
          <p:cNvPicPr preferRelativeResize="0"/>
          <p:nvPr/>
        </p:nvPicPr>
        <p:blipFill rotWithShape="1">
          <a:blip r:embed="rId3">
            <a:alphaModFix/>
          </a:blip>
          <a:srcRect b="0" l="10" r="20" t="0"/>
          <a:stretch/>
        </p:blipFill>
        <p:spPr>
          <a:xfrm>
            <a:off x="4572000" y="1174950"/>
            <a:ext cx="4191000" cy="27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5"/>
          <p:cNvPicPr preferRelativeResize="0"/>
          <p:nvPr/>
        </p:nvPicPr>
        <p:blipFill rotWithShape="1">
          <a:blip r:embed="rId4">
            <a:alphaModFix/>
          </a:blip>
          <a:srcRect b="25003" l="0" r="0" t="25003"/>
          <a:stretch/>
        </p:blipFill>
        <p:spPr>
          <a:xfrm>
            <a:off x="304800" y="1174950"/>
            <a:ext cx="4191000" cy="27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5"/>
          <p:cNvSpPr txBox="1"/>
          <p:nvPr/>
        </p:nvSpPr>
        <p:spPr>
          <a:xfrm>
            <a:off x="547800" y="87000"/>
            <a:ext cx="8215200" cy="12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Hackathon Story: </a:t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Mistral AI Worldwide Hackathon’26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>
            <a:off x="303625" y="4069425"/>
            <a:ext cx="8534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Winner (Best Use of Hugging Face) - Mistral AI Worldwide Hackathon '26</a:t>
            </a:r>
            <a:endParaRPr b="1" sz="1400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Developed "Agentic World": Behavioral Digital Twins using Mistral Small 3.1 and Codestral to auto-generate DOM interaction scripts.</a:t>
            </a:r>
            <a:endParaRPr sz="1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highlight>
                  <a:srgbClr val="FDFDFC"/>
                </a:highlight>
                <a:latin typeface="Calibri"/>
                <a:ea typeface="Calibri"/>
                <a:cs typeface="Calibri"/>
                <a:sym typeface="Calibri"/>
              </a:rPr>
              <a:t>Stack: Mistral Small 3.1 · Nvidia Nemo </a:t>
            </a:r>
            <a:r>
              <a:rPr lang="en">
                <a:solidFill>
                  <a:srgbClr val="1A1A1A"/>
                </a:solidFill>
                <a:highlight>
                  <a:srgbClr val="FDFDFC"/>
                </a:highlight>
                <a:latin typeface="Calibri"/>
                <a:ea typeface="Calibri"/>
                <a:cs typeface="Calibri"/>
                <a:sym typeface="Calibri"/>
              </a:rPr>
              <a:t>· Nvidia 49b · </a:t>
            </a:r>
            <a:r>
              <a:rPr lang="en">
                <a:solidFill>
                  <a:srgbClr val="1A1A1A"/>
                </a:solidFill>
                <a:highlight>
                  <a:srgbClr val="FDFDFC"/>
                </a:highlight>
                <a:latin typeface="Calibri"/>
                <a:ea typeface="Calibri"/>
                <a:cs typeface="Calibri"/>
                <a:sym typeface="Calibri"/>
              </a:rPr>
              <a:t> Codestral · Hugging Face · Playwright · Python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630936" y="76462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16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304800" y="882300"/>
            <a:ext cx="4192200" cy="27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6"/>
          <p:cNvPicPr preferRelativeResize="0"/>
          <p:nvPr/>
        </p:nvPicPr>
        <p:blipFill rotWithShape="1">
          <a:blip r:embed="rId4">
            <a:alphaModFix/>
          </a:blip>
          <a:srcRect b="10" l="0" r="0" t="0"/>
          <a:stretch/>
        </p:blipFill>
        <p:spPr>
          <a:xfrm>
            <a:off x="4648300" y="938714"/>
            <a:ext cx="4192200" cy="2793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0" name="Google Shape;210;p16"/>
          <p:cNvGrpSpPr/>
          <p:nvPr/>
        </p:nvGrpSpPr>
        <p:grpSpPr>
          <a:xfrm>
            <a:off x="571500" y="0"/>
            <a:ext cx="5715000" cy="807600"/>
            <a:chOff x="0" y="0"/>
            <a:chExt cx="5715000" cy="807600"/>
          </a:xfrm>
        </p:grpSpPr>
        <p:sp>
          <p:nvSpPr>
            <p:cNvPr id="211" name="Google Shape;211;p16"/>
            <p:cNvSpPr/>
            <p:nvPr/>
          </p:nvSpPr>
          <p:spPr>
            <a:xfrm>
              <a:off x="0" y="0"/>
              <a:ext cx="5715000" cy="807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6"/>
            <p:cNvSpPr txBox="1"/>
            <p:nvPr/>
          </p:nvSpPr>
          <p:spPr>
            <a:xfrm>
              <a:off x="0" y="0"/>
              <a:ext cx="5715000" cy="80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Iterate X Columbia Hackathon</a:t>
              </a:r>
              <a:endParaRPr b="1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" name="Google Shape;213;p16"/>
          <p:cNvGrpSpPr/>
          <p:nvPr/>
        </p:nvGrpSpPr>
        <p:grpSpPr>
          <a:xfrm>
            <a:off x="303625" y="3892625"/>
            <a:ext cx="8535575" cy="1155700"/>
            <a:chOff x="-1175" y="-346000"/>
            <a:chExt cx="8535575" cy="1155700"/>
          </a:xfrm>
        </p:grpSpPr>
        <p:sp>
          <p:nvSpPr>
            <p:cNvPr id="214" name="Google Shape;214;p16"/>
            <p:cNvSpPr/>
            <p:nvPr/>
          </p:nvSpPr>
          <p:spPr>
            <a:xfrm>
              <a:off x="0" y="0"/>
              <a:ext cx="85344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6"/>
            <p:cNvSpPr txBox="1"/>
            <p:nvPr/>
          </p:nvSpPr>
          <p:spPr>
            <a:xfrm>
              <a:off x="-1175" y="-346000"/>
              <a:ext cx="8534400" cy="8097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3rd Place Overall &amp; Best Use of Blaxel (YC’25)</a:t>
              </a:r>
              <a:r>
                <a:rPr b="1" lang="en" sz="14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 - Iterate X Columbia Hack'26</a:t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Built an automated MCP adapter sandbox: parses any OpenAPI/Swagger spec and code-generates typed, agent-callable MCP tools on sandboxed serverless functions and REST APIs into LLM tools with zero glue code.</a:t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STACK</a:t>
              </a:r>
              <a:r>
                <a:rPr lang="en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: OpenAPI → MCP codegen · JSON-Schema tool defs · sandboxed serverless execution · tool-calling</a:t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6" name="Google Shape;216;p16"/>
          <p:cNvGrpSpPr/>
          <p:nvPr/>
        </p:nvGrpSpPr>
        <p:grpSpPr>
          <a:xfrm>
            <a:off x="7006900" y="535039"/>
            <a:ext cx="1833600" cy="842081"/>
            <a:chOff x="2199025" y="-857113"/>
            <a:chExt cx="1833600" cy="1050238"/>
          </a:xfrm>
        </p:grpSpPr>
        <p:sp>
          <p:nvSpPr>
            <p:cNvPr id="217" name="Google Shape;217;p16"/>
            <p:cNvSpPr/>
            <p:nvPr/>
          </p:nvSpPr>
          <p:spPr>
            <a:xfrm>
              <a:off x="2272425" y="-759375"/>
              <a:ext cx="1760100" cy="952500"/>
            </a:xfrm>
            <a:custGeom>
              <a:rect b="b" l="l" r="r" t="t"/>
              <a:pathLst>
                <a:path extrusionOk="0" h="120000" w="120000">
                  <a:moveTo>
                    <a:pt x="0" y="23077"/>
                  </a:moveTo>
                  <a:cubicBezTo>
                    <a:pt x="0" y="10332"/>
                    <a:pt x="6716" y="0"/>
                    <a:pt x="15000" y="0"/>
                  </a:cubicBezTo>
                  <a:lnTo>
                    <a:pt x="105000" y="0"/>
                  </a:lnTo>
                  <a:cubicBezTo>
                    <a:pt x="113284" y="0"/>
                    <a:pt x="120000" y="10332"/>
                    <a:pt x="120000" y="23077"/>
                  </a:cubicBezTo>
                  <a:lnTo>
                    <a:pt x="120000" y="69231"/>
                  </a:lnTo>
                  <a:cubicBezTo>
                    <a:pt x="120000" y="81976"/>
                    <a:pt x="113284" y="92308"/>
                    <a:pt x="105000" y="92308"/>
                  </a:cubicBezTo>
                  <a:lnTo>
                    <a:pt x="24000" y="92308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F2937"/>
            </a:solidFill>
            <a:ln cap="flat" cmpd="sng" w="9525">
              <a:solidFill>
                <a:srgbClr val="37415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6"/>
            <p:cNvSpPr txBox="1"/>
            <p:nvPr/>
          </p:nvSpPr>
          <p:spPr>
            <a:xfrm>
              <a:off x="2199025" y="-857113"/>
              <a:ext cx="18336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100">
                  <a:solidFill>
                    <a:srgbClr val="F9FAFB"/>
                  </a:solidFill>
                  <a:latin typeface="Calibri"/>
                  <a:ea typeface="Calibri"/>
                  <a:cs typeface="Calibri"/>
                  <a:sym typeface="Calibri"/>
                </a:rPr>
                <a:t>Had to do </a:t>
              </a:r>
              <a:r>
                <a:rPr i="1" lang="en" sz="1100">
                  <a:solidFill>
                    <a:srgbClr val="F9FAFB"/>
                  </a:solidFill>
                  <a:latin typeface="Calibri"/>
                  <a:ea typeface="Calibri"/>
                  <a:cs typeface="Calibri"/>
                  <a:sym typeface="Calibri"/>
                </a:rPr>
                <a:t>impromptu</a:t>
              </a:r>
              <a:r>
                <a:rPr i="1" lang="en" sz="1100">
                  <a:solidFill>
                    <a:srgbClr val="F9FAFB"/>
                  </a:solidFill>
                  <a:latin typeface="Calibri"/>
                  <a:ea typeface="Calibri"/>
                  <a:cs typeface="Calibri"/>
                  <a:sym typeface="Calibri"/>
                </a:rPr>
                <a:t> talk on stage if selected as finalists</a:t>
              </a:r>
              <a:r>
                <a:rPr b="0" i="1" lang="en" sz="1100">
                  <a:solidFill>
                    <a:srgbClr val="F9FAFB"/>
                  </a:solidFill>
                  <a:latin typeface="Calibri"/>
                  <a:ea typeface="Calibri"/>
                  <a:cs typeface="Calibri"/>
                  <a:sym typeface="Calibri"/>
                </a:rPr>
                <a:t>!</a:t>
              </a:r>
              <a:endParaRPr b="0" i="1" sz="1100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630936" y="76462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17"/>
          <p:cNvPicPr preferRelativeResize="0"/>
          <p:nvPr/>
        </p:nvPicPr>
        <p:blipFill rotWithShape="1">
          <a:blip r:embed="rId3">
            <a:alphaModFix/>
          </a:blip>
          <a:srcRect b="10" l="0" r="0" t="10"/>
          <a:stretch/>
        </p:blipFill>
        <p:spPr>
          <a:xfrm>
            <a:off x="2105100" y="807600"/>
            <a:ext cx="4371600" cy="3288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" name="Google Shape;226;p17"/>
          <p:cNvGrpSpPr/>
          <p:nvPr/>
        </p:nvGrpSpPr>
        <p:grpSpPr>
          <a:xfrm>
            <a:off x="571500" y="0"/>
            <a:ext cx="5715000" cy="807600"/>
            <a:chOff x="0" y="0"/>
            <a:chExt cx="5715000" cy="807600"/>
          </a:xfrm>
        </p:grpSpPr>
        <p:sp>
          <p:nvSpPr>
            <p:cNvPr id="227" name="Google Shape;227;p17"/>
            <p:cNvSpPr/>
            <p:nvPr/>
          </p:nvSpPr>
          <p:spPr>
            <a:xfrm>
              <a:off x="0" y="0"/>
              <a:ext cx="5715000" cy="807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7"/>
            <p:cNvSpPr txBox="1"/>
            <p:nvPr/>
          </p:nvSpPr>
          <p:spPr>
            <a:xfrm>
              <a:off x="0" y="0"/>
              <a:ext cx="5715000" cy="80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Columbia Devfest Hackathon</a:t>
              </a:r>
              <a:endParaRPr b="1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9" name="Google Shape;229;p17"/>
          <p:cNvGrpSpPr/>
          <p:nvPr/>
        </p:nvGrpSpPr>
        <p:grpSpPr>
          <a:xfrm>
            <a:off x="304800" y="4125075"/>
            <a:ext cx="8534400" cy="923250"/>
            <a:chOff x="0" y="-113550"/>
            <a:chExt cx="8534400" cy="923250"/>
          </a:xfrm>
        </p:grpSpPr>
        <p:sp>
          <p:nvSpPr>
            <p:cNvPr id="230" name="Google Shape;230;p17"/>
            <p:cNvSpPr/>
            <p:nvPr/>
          </p:nvSpPr>
          <p:spPr>
            <a:xfrm>
              <a:off x="0" y="0"/>
              <a:ext cx="85344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7"/>
            <p:cNvSpPr txBox="1"/>
            <p:nvPr/>
          </p:nvSpPr>
          <p:spPr>
            <a:xfrm>
              <a:off x="0" y="-113550"/>
              <a:ext cx="85344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Winner (Best Use of Dedalus Labs)</a:t>
              </a:r>
              <a:r>
                <a:rPr b="1" lang="en" sz="14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 - Columbia Devfest '26</a:t>
              </a:r>
              <a:endParaRPr b="1" sz="1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Built an end-to-end orchestration pipeline that scaffolds, containerizes, and deploys production-ready MCP servers — spec → Dockerized service → hosted endpoint, in one flow.</a:t>
              </a:r>
              <a:endParaRPr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A1A1A"/>
                  </a:solidFill>
                  <a:highlight>
                    <a:srgbClr val="FDFDFC"/>
                  </a:highlight>
                  <a:latin typeface="Calibri"/>
                  <a:ea typeface="Calibri"/>
                  <a:cs typeface="Calibri"/>
                  <a:sym typeface="Calibri"/>
                </a:rPr>
                <a:t>PIPELINE: scaffold → Docker build → CI/CD deploy → hosted endpoint + health checks</a:t>
              </a:r>
              <a:r>
                <a:rPr lang="en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p17"/>
          <p:cNvGrpSpPr/>
          <p:nvPr/>
        </p:nvGrpSpPr>
        <p:grpSpPr>
          <a:xfrm>
            <a:off x="222350" y="1752611"/>
            <a:ext cx="2003666" cy="598018"/>
            <a:chOff x="-62300" y="-333375"/>
            <a:chExt cx="1930500" cy="1714500"/>
          </a:xfrm>
        </p:grpSpPr>
        <p:sp>
          <p:nvSpPr>
            <p:cNvPr id="233" name="Google Shape;233;p17"/>
            <p:cNvSpPr/>
            <p:nvPr/>
          </p:nvSpPr>
          <p:spPr>
            <a:xfrm rot="5400000">
              <a:off x="45700" y="-441375"/>
              <a:ext cx="1714500" cy="1930500"/>
            </a:xfrm>
            <a:custGeom>
              <a:rect b="b" l="l" r="r" t="t"/>
              <a:pathLst>
                <a:path extrusionOk="0" h="120000" w="120000">
                  <a:moveTo>
                    <a:pt x="6667" y="21818"/>
                  </a:moveTo>
                  <a:cubicBezTo>
                    <a:pt x="2200" y="21818"/>
                    <a:pt x="0" y="25418"/>
                    <a:pt x="0" y="32727"/>
                  </a:cubicBezTo>
                  <a:lnTo>
                    <a:pt x="0" y="109091"/>
                  </a:lnTo>
                  <a:cubicBezTo>
                    <a:pt x="0" y="116400"/>
                    <a:pt x="2200" y="120000"/>
                    <a:pt x="6667" y="120000"/>
                  </a:cubicBezTo>
                  <a:lnTo>
                    <a:pt x="113333" y="120000"/>
                  </a:lnTo>
                  <a:cubicBezTo>
                    <a:pt x="117800" y="120000"/>
                    <a:pt x="120000" y="116400"/>
                    <a:pt x="120000" y="109091"/>
                  </a:cubicBezTo>
                  <a:lnTo>
                    <a:pt x="120000" y="32727"/>
                  </a:lnTo>
                  <a:cubicBezTo>
                    <a:pt x="120000" y="25418"/>
                    <a:pt x="117800" y="21818"/>
                    <a:pt x="113333" y="21818"/>
                  </a:cubicBezTo>
                  <a:lnTo>
                    <a:pt x="73333" y="21818"/>
                  </a:lnTo>
                  <a:lnTo>
                    <a:pt x="66667" y="0"/>
                  </a:lnTo>
                  <a:lnTo>
                    <a:pt x="60000" y="21818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7"/>
            <p:cNvSpPr txBox="1"/>
            <p:nvPr/>
          </p:nvSpPr>
          <p:spPr>
            <a:xfrm>
              <a:off x="-62300" y="-75"/>
              <a:ext cx="1524000" cy="1047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100">
                  <a:solidFill>
                    <a:srgbClr val="4B5563"/>
                  </a:solidFill>
                  <a:latin typeface="Calibri"/>
                  <a:ea typeface="Calibri"/>
                  <a:cs typeface="Calibri"/>
                  <a:sym typeface="Calibri"/>
                </a:rPr>
                <a:t>Pulled an all nighter for this one at the Columbia Library</a:t>
              </a:r>
              <a:endParaRPr i="1" sz="11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630936" y="76462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 txBox="1"/>
          <p:nvPr/>
        </p:nvSpPr>
        <p:spPr>
          <a:xfrm>
            <a:off x="632275" y="168263"/>
            <a:ext cx="78771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Calibri"/>
                <a:ea typeface="Calibri"/>
                <a:cs typeface="Calibri"/>
                <a:sym typeface="Calibri"/>
              </a:rPr>
              <a:t>Github: </a:t>
            </a: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Harshini2212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03275"/>
            <a:ext cx="5766427" cy="279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70100" y="2448150"/>
            <a:ext cx="5514701" cy="260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632086" y="45307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628650" y="142875"/>
            <a:ext cx="7886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</a:t>
            </a:r>
            <a:r>
              <a:rPr b="1" lang="en" sz="1500">
                <a:latin typeface="Calibri"/>
                <a:ea typeface="Calibri"/>
                <a:cs typeface="Calibri"/>
                <a:sym typeface="Calibri"/>
              </a:rPr>
              <a:t>MERCURY</a:t>
            </a:r>
            <a:r>
              <a:rPr b="1"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WHY ME</a:t>
            </a:r>
            <a:endParaRPr b="1"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 txBox="1"/>
          <p:nvPr/>
        </p:nvSpPr>
        <p:spPr>
          <a:xfrm>
            <a:off x="521125" y="1447525"/>
            <a:ext cx="4895100" cy="3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lang="en" sz="15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t's the problem I keep choosing to work on and exactly what </a:t>
            </a:r>
            <a:r>
              <a:rPr lang="en" sz="15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Mercury </a:t>
            </a:r>
            <a:r>
              <a:rPr b="0" lang="en" sz="15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is building. I'd love to build it with you.</a:t>
            </a:r>
            <a:endParaRPr b="0" sz="1500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25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Harshini Vijaya </a:t>
            </a: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umar</a:t>
            </a:r>
            <a:endParaRPr b="1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hv2201@nyu.edu</a:t>
            </a:r>
            <a:r>
              <a:rPr b="0" lang="en" sz="13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   ·   +1 (848) 240-7937</a:t>
            </a:r>
            <a:endParaRPr b="0" sz="13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2" name="Google Shape;252;p19"/>
          <p:cNvGrpSpPr/>
          <p:nvPr/>
        </p:nvGrpSpPr>
        <p:grpSpPr>
          <a:xfrm>
            <a:off x="5524500" y="1143000"/>
            <a:ext cx="3048000" cy="3238500"/>
            <a:chOff x="0" y="0"/>
            <a:chExt cx="3048000" cy="3238500"/>
          </a:xfrm>
        </p:grpSpPr>
        <p:sp>
          <p:nvSpPr>
            <p:cNvPr id="253" name="Google Shape;253;p19"/>
            <p:cNvSpPr/>
            <p:nvPr/>
          </p:nvSpPr>
          <p:spPr>
            <a:xfrm>
              <a:off x="0" y="0"/>
              <a:ext cx="3048000" cy="3238500"/>
            </a:xfrm>
            <a:prstGeom prst="roundRect">
              <a:avLst>
                <a:gd fmla="val 3750" name="adj"/>
              </a:avLst>
            </a:prstGeom>
            <a:solidFill>
              <a:srgbClr val="FFFFFF"/>
            </a:solidFill>
            <a:ln cap="flat" cmpd="sng" w="9525">
              <a:solidFill>
                <a:srgbClr val="D5D5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4" name="Google Shape;254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6250" y="285750"/>
              <a:ext cx="2095500" cy="2095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19"/>
            <p:cNvSpPr txBox="1"/>
            <p:nvPr/>
          </p:nvSpPr>
          <p:spPr>
            <a:xfrm>
              <a:off x="0" y="2476500"/>
              <a:ext cx="3048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SCAN FOR MY CODE</a:t>
              </a:r>
              <a:endParaRPr b="1" sz="1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u="sng">
                  <a:solidFill>
                    <a:srgbClr val="0563C1"/>
                  </a:solidFill>
                  <a:latin typeface="Calibri"/>
                  <a:ea typeface="Calibri"/>
                  <a:cs typeface="Calibri"/>
                  <a:sym typeface="Calibri"/>
                </a:rPr>
                <a:t>harshinivijay.com</a:t>
              </a:r>
              <a:endParaRPr b="0" sz="11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19"/>
          <p:cNvSpPr txBox="1"/>
          <p:nvPr/>
        </p:nvSpPr>
        <p:spPr>
          <a:xfrm>
            <a:off x="408325" y="906875"/>
            <a:ext cx="60549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Let's make spend &amp; cash flow AI actually trustworthy.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24550" y="1447525"/>
            <a:ext cx="2047875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9" title="my portfolio q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92713" y="1415963"/>
            <a:ext cx="2311575" cy="231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